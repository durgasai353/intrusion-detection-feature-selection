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5"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116" d="100"/>
          <a:sy n="116" d="100"/>
        </p:scale>
        <p:origin x="39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B05A87C-D702-403A-A729-4774D55BBBF3}" type="datetimeFigureOut">
              <a:rPr lang="en-IN" smtClean="0"/>
              <a:t>19-08-2022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AA570E-F860-491C-88EB-CD855F8B8C9A}" type="slidenum">
              <a:rPr lang="en-IN" smtClean="0"/>
              <a:t>‹#›</a:t>
            </a:fld>
            <a:endParaRPr lang="en-IN"/>
          </a:p>
        </p:txBody>
      </p:sp>
    </p:spTree>
    <p:extLst>
      <p:ext uri="{BB962C8B-B14F-4D97-AF65-F5344CB8AC3E}">
        <p14:creationId xmlns:p14="http://schemas.microsoft.com/office/powerpoint/2010/main" val="40329900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B05A87C-D702-403A-A729-4774D55BBBF3}" type="datetimeFigureOut">
              <a:rPr lang="en-IN" smtClean="0"/>
              <a:t>19-08-2022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AA570E-F860-491C-88EB-CD855F8B8C9A}" type="slidenum">
              <a:rPr lang="en-IN" smtClean="0"/>
              <a:t>‹#›</a:t>
            </a:fld>
            <a:endParaRPr lang="en-IN"/>
          </a:p>
        </p:txBody>
      </p:sp>
    </p:spTree>
    <p:extLst>
      <p:ext uri="{BB962C8B-B14F-4D97-AF65-F5344CB8AC3E}">
        <p14:creationId xmlns:p14="http://schemas.microsoft.com/office/powerpoint/2010/main" val="1928986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B05A87C-D702-403A-A729-4774D55BBBF3}" type="datetimeFigureOut">
              <a:rPr lang="en-IN" smtClean="0"/>
              <a:t>19-08-2022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AA570E-F860-491C-88EB-CD855F8B8C9A}" type="slidenum">
              <a:rPr lang="en-IN" smtClean="0"/>
              <a:t>‹#›</a:t>
            </a:fld>
            <a:endParaRPr lang="en-IN"/>
          </a:p>
        </p:txBody>
      </p:sp>
    </p:spTree>
    <p:extLst>
      <p:ext uri="{BB962C8B-B14F-4D97-AF65-F5344CB8AC3E}">
        <p14:creationId xmlns:p14="http://schemas.microsoft.com/office/powerpoint/2010/main" val="22114934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B05A87C-D702-403A-A729-4774D55BBBF3}" type="datetimeFigureOut">
              <a:rPr lang="en-IN" smtClean="0"/>
              <a:t>19-08-2022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AA570E-F860-491C-88EB-CD855F8B8C9A}" type="slidenum">
              <a:rPr lang="en-IN" smtClean="0"/>
              <a:t>‹#›</a:t>
            </a:fld>
            <a:endParaRPr lang="en-IN"/>
          </a:p>
        </p:txBody>
      </p:sp>
    </p:spTree>
    <p:extLst>
      <p:ext uri="{BB962C8B-B14F-4D97-AF65-F5344CB8AC3E}">
        <p14:creationId xmlns:p14="http://schemas.microsoft.com/office/powerpoint/2010/main" val="1109020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B05A87C-D702-403A-A729-4774D55BBBF3}" type="datetimeFigureOut">
              <a:rPr lang="en-IN" smtClean="0"/>
              <a:t>19-08-2022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AAA570E-F860-491C-88EB-CD855F8B8C9A}" type="slidenum">
              <a:rPr lang="en-IN" smtClean="0"/>
              <a:t>‹#›</a:t>
            </a:fld>
            <a:endParaRPr lang="en-IN"/>
          </a:p>
        </p:txBody>
      </p:sp>
    </p:spTree>
    <p:extLst>
      <p:ext uri="{BB962C8B-B14F-4D97-AF65-F5344CB8AC3E}">
        <p14:creationId xmlns:p14="http://schemas.microsoft.com/office/powerpoint/2010/main" val="20281964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B05A87C-D702-403A-A729-4774D55BBBF3}" type="datetimeFigureOut">
              <a:rPr lang="en-IN" smtClean="0"/>
              <a:t>19-08-2022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AAA570E-F860-491C-88EB-CD855F8B8C9A}" type="slidenum">
              <a:rPr lang="en-IN" smtClean="0"/>
              <a:t>‹#›</a:t>
            </a:fld>
            <a:endParaRPr lang="en-IN"/>
          </a:p>
        </p:txBody>
      </p:sp>
    </p:spTree>
    <p:extLst>
      <p:ext uri="{BB962C8B-B14F-4D97-AF65-F5344CB8AC3E}">
        <p14:creationId xmlns:p14="http://schemas.microsoft.com/office/powerpoint/2010/main" val="4100943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05A87C-D702-403A-A729-4774D55BBBF3}" type="datetimeFigureOut">
              <a:rPr lang="en-IN" smtClean="0"/>
              <a:t>19-08-2022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AAA570E-F860-491C-88EB-CD855F8B8C9A}" type="slidenum">
              <a:rPr lang="en-IN" smtClean="0"/>
              <a:t>‹#›</a:t>
            </a:fld>
            <a:endParaRPr lang="en-IN"/>
          </a:p>
        </p:txBody>
      </p:sp>
    </p:spTree>
    <p:extLst>
      <p:ext uri="{BB962C8B-B14F-4D97-AF65-F5344CB8AC3E}">
        <p14:creationId xmlns:p14="http://schemas.microsoft.com/office/powerpoint/2010/main" val="1000553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B05A87C-D702-403A-A729-4774D55BBBF3}" type="datetimeFigureOut">
              <a:rPr lang="en-IN" smtClean="0"/>
              <a:t>19-08-2022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AA570E-F860-491C-88EB-CD855F8B8C9A}" type="slidenum">
              <a:rPr lang="en-IN" smtClean="0"/>
              <a:t>‹#›</a:t>
            </a:fld>
            <a:endParaRPr lang="en-IN"/>
          </a:p>
        </p:txBody>
      </p:sp>
    </p:spTree>
    <p:extLst>
      <p:ext uri="{BB962C8B-B14F-4D97-AF65-F5344CB8AC3E}">
        <p14:creationId xmlns:p14="http://schemas.microsoft.com/office/powerpoint/2010/main" val="32207647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B05A87C-D702-403A-A729-4774D55BBBF3}" type="datetimeFigureOut">
              <a:rPr lang="en-IN" smtClean="0"/>
              <a:t>19-08-2022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AA570E-F860-491C-88EB-CD855F8B8C9A}" type="slidenum">
              <a:rPr lang="en-IN" smtClean="0"/>
              <a:t>‹#›</a:t>
            </a:fld>
            <a:endParaRPr lang="en-IN"/>
          </a:p>
        </p:txBody>
      </p:sp>
    </p:spTree>
    <p:extLst>
      <p:ext uri="{BB962C8B-B14F-4D97-AF65-F5344CB8AC3E}">
        <p14:creationId xmlns:p14="http://schemas.microsoft.com/office/powerpoint/2010/main" val="1650683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B05A87C-D702-403A-A729-4774D55BBBF3}" type="datetimeFigureOut">
              <a:rPr lang="en-IN" smtClean="0"/>
              <a:t>19-08-2022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AA570E-F860-491C-88EB-CD855F8B8C9A}" type="slidenum">
              <a:rPr lang="en-IN" smtClean="0"/>
              <a:t>‹#›</a:t>
            </a:fld>
            <a:endParaRPr lang="en-IN"/>
          </a:p>
        </p:txBody>
      </p:sp>
    </p:spTree>
    <p:extLst>
      <p:ext uri="{BB962C8B-B14F-4D97-AF65-F5344CB8AC3E}">
        <p14:creationId xmlns:p14="http://schemas.microsoft.com/office/powerpoint/2010/main" val="37098215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B05A87C-D702-403A-A729-4774D55BBBF3}" type="datetimeFigureOut">
              <a:rPr lang="en-IN" smtClean="0"/>
              <a:t>19-08-2022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AA570E-F860-491C-88EB-CD855F8B8C9A}"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5428334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B05A87C-D702-403A-A729-4774D55BBBF3}" type="datetimeFigureOut">
              <a:rPr lang="en-IN" smtClean="0"/>
              <a:t>19-08-2022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AA570E-F860-491C-88EB-CD855F8B8C9A}" type="slidenum">
              <a:rPr lang="en-IN" smtClean="0"/>
              <a:t>‹#›</a:t>
            </a:fld>
            <a:endParaRPr lang="en-IN"/>
          </a:p>
        </p:txBody>
      </p:sp>
    </p:spTree>
    <p:extLst>
      <p:ext uri="{BB962C8B-B14F-4D97-AF65-F5344CB8AC3E}">
        <p14:creationId xmlns:p14="http://schemas.microsoft.com/office/powerpoint/2010/main" val="14175121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B05A87C-D702-403A-A729-4774D55BBBF3}" type="datetimeFigureOut">
              <a:rPr lang="en-IN" smtClean="0"/>
              <a:t>19-08-2022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AA570E-F860-491C-88EB-CD855F8B8C9A}"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3833795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B05A87C-D702-403A-A729-4774D55BBBF3}" type="datetimeFigureOut">
              <a:rPr lang="en-IN" smtClean="0"/>
              <a:t>19-08-2022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AA570E-F860-491C-88EB-CD855F8B8C9A}" type="slidenum">
              <a:rPr lang="en-IN" smtClean="0"/>
              <a:t>‹#›</a:t>
            </a:fld>
            <a:endParaRPr lang="en-IN"/>
          </a:p>
        </p:txBody>
      </p:sp>
    </p:spTree>
    <p:extLst>
      <p:ext uri="{BB962C8B-B14F-4D97-AF65-F5344CB8AC3E}">
        <p14:creationId xmlns:p14="http://schemas.microsoft.com/office/powerpoint/2010/main" val="20126648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B05A87C-D702-403A-A729-4774D55BBBF3}" type="datetimeFigureOut">
              <a:rPr lang="en-IN" smtClean="0"/>
              <a:t>19-08-2022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AA570E-F860-491C-88EB-CD855F8B8C9A}" type="slidenum">
              <a:rPr lang="en-IN" smtClean="0"/>
              <a:t>‹#›</a:t>
            </a:fld>
            <a:endParaRPr lang="en-IN"/>
          </a:p>
        </p:txBody>
      </p:sp>
    </p:spTree>
    <p:extLst>
      <p:ext uri="{BB962C8B-B14F-4D97-AF65-F5344CB8AC3E}">
        <p14:creationId xmlns:p14="http://schemas.microsoft.com/office/powerpoint/2010/main" val="40619393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B05A87C-D702-403A-A729-4774D55BBBF3}" type="datetimeFigureOut">
              <a:rPr lang="en-IN" smtClean="0"/>
              <a:t>19-08-2022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AA570E-F860-491C-88EB-CD855F8B8C9A}" type="slidenum">
              <a:rPr lang="en-IN" smtClean="0"/>
              <a:t>‹#›</a:t>
            </a:fld>
            <a:endParaRPr lang="en-IN"/>
          </a:p>
        </p:txBody>
      </p:sp>
    </p:spTree>
    <p:extLst>
      <p:ext uri="{BB962C8B-B14F-4D97-AF65-F5344CB8AC3E}">
        <p14:creationId xmlns:p14="http://schemas.microsoft.com/office/powerpoint/2010/main" val="17179155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B05A87C-D702-403A-A729-4774D55BBBF3}" type="datetimeFigureOut">
              <a:rPr lang="en-IN" smtClean="0"/>
              <a:t>19-08-2022</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2AAA570E-F860-491C-88EB-CD855F8B8C9A}" type="slidenum">
              <a:rPr lang="en-IN" smtClean="0"/>
              <a:t>‹#›</a:t>
            </a:fld>
            <a:endParaRPr lang="en-IN"/>
          </a:p>
        </p:txBody>
      </p:sp>
    </p:spTree>
    <p:extLst>
      <p:ext uri="{BB962C8B-B14F-4D97-AF65-F5344CB8AC3E}">
        <p14:creationId xmlns:p14="http://schemas.microsoft.com/office/powerpoint/2010/main" val="1693140305"/>
      </p:ext>
    </p:extLst>
  </p:cSld>
  <p:clrMap bg1="dk1" tx1="lt1" bg2="dk2" tx2="lt2" accent1="accent1" accent2="accent2" accent3="accent3" accent4="accent4" accent5="accent5" accent6="accent6" hlink="hlink" folHlink="folHlink"/>
  <p:sldLayoutIdLst>
    <p:sldLayoutId id="2147483876" r:id="rId1"/>
    <p:sldLayoutId id="2147483877" r:id="rId2"/>
    <p:sldLayoutId id="2147483878" r:id="rId3"/>
    <p:sldLayoutId id="2147483879" r:id="rId4"/>
    <p:sldLayoutId id="2147483880" r:id="rId5"/>
    <p:sldLayoutId id="2147483881" r:id="rId6"/>
    <p:sldLayoutId id="2147483882" r:id="rId7"/>
    <p:sldLayoutId id="2147483883" r:id="rId8"/>
    <p:sldLayoutId id="2147483884" r:id="rId9"/>
    <p:sldLayoutId id="2147483885" r:id="rId10"/>
    <p:sldLayoutId id="2147483886" r:id="rId11"/>
    <p:sldLayoutId id="2147483887" r:id="rId12"/>
    <p:sldLayoutId id="2147483888" r:id="rId13"/>
    <p:sldLayoutId id="2147483889" r:id="rId14"/>
    <p:sldLayoutId id="2147483890" r:id="rId15"/>
    <p:sldLayoutId id="2147483891"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AutoShape 4"/>
          <p:cNvSpPr>
            <a:spLocks noChangeArrowheads="1"/>
          </p:cNvSpPr>
          <p:nvPr/>
        </p:nvSpPr>
        <p:spPr bwMode="auto">
          <a:xfrm>
            <a:off x="2752733" y="1905000"/>
            <a:ext cx="8001000" cy="1752600"/>
          </a:xfrm>
          <a:prstGeom prst="roundRect">
            <a:avLst>
              <a:gd name="adj" fmla="val 16667"/>
            </a:avLst>
          </a:prstGeom>
          <a:noFill/>
          <a:ln>
            <a:noFill/>
          </a:ln>
          <a:effectLst/>
        </p:spPr>
        <p:txBody>
          <a:bodyPr wrap="none" anchor="ctr"/>
          <a:lstStyle/>
          <a:p>
            <a:pPr eaLnBrk="1" hangingPunct="1">
              <a:buClr>
                <a:srgbClr val="000000"/>
              </a:buClr>
              <a:buSzPct val="100000"/>
              <a:buFont typeface="Times New Roman" panose="02020603050405020304" pitchFamily="18" charset="0"/>
              <a:buNone/>
            </a:pPr>
            <a:endParaRPr lang="en-IN" altLang="en-US"/>
          </a:p>
        </p:txBody>
      </p:sp>
      <p:sp>
        <p:nvSpPr>
          <p:cNvPr id="17" name="Text Box 5"/>
          <p:cNvSpPr txBox="1">
            <a:spLocks noChangeArrowheads="1"/>
          </p:cNvSpPr>
          <p:nvPr/>
        </p:nvSpPr>
        <p:spPr bwMode="auto">
          <a:xfrm>
            <a:off x="1629721" y="2537358"/>
            <a:ext cx="9674086" cy="1844388"/>
          </a:xfrm>
          <a:prstGeom prst="rect">
            <a:avLst/>
          </a:prstGeom>
          <a:noFill/>
          <a:ln w="9525">
            <a:solidFill>
              <a:srgbClr val="3465A4"/>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Calibri" panose="020F050202020403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9pPr>
          </a:lstStyle>
          <a:p>
            <a:pPr algn="ctr"/>
            <a:r>
              <a:rPr lang="en-IN" sz="3600" b="1" dirty="0">
                <a:solidFill>
                  <a:srgbClr val="7030A0"/>
                </a:solidFill>
                <a:latin typeface="Times New Roman" panose="02020603050405020304" pitchFamily="18" charset="0"/>
                <a:cs typeface="Times New Roman" panose="02020603050405020304" pitchFamily="18" charset="0"/>
              </a:rPr>
              <a:t>Performance Analysis of Intrusion Detection Systems Using a Feature Selection Method</a:t>
            </a:r>
            <a:endParaRPr lang="en-IN" sz="3600" dirty="0">
              <a:solidFill>
                <a:srgbClr val="7030A0"/>
              </a:solidFill>
              <a:latin typeface="Times New Roman" panose="02020603050405020304" pitchFamily="18" charset="0"/>
              <a:cs typeface="Times New Roman" panose="02020603050405020304" pitchFamily="18" charset="0"/>
            </a:endParaRPr>
          </a:p>
        </p:txBody>
      </p:sp>
      <p:sp>
        <p:nvSpPr>
          <p:cNvPr id="19" name="Rounded Rectangle 1"/>
          <p:cNvSpPr>
            <a:spLocks noChangeArrowheads="1"/>
          </p:cNvSpPr>
          <p:nvPr/>
        </p:nvSpPr>
        <p:spPr bwMode="auto">
          <a:xfrm>
            <a:off x="1043410" y="188415"/>
            <a:ext cx="3025008" cy="663299"/>
          </a:xfrm>
          <a:prstGeom prst="roundRect">
            <a:avLst>
              <a:gd name="adj" fmla="val 16667"/>
            </a:avLst>
          </a:prstGeom>
          <a:noFill/>
          <a:ln>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p:spPr>
        <p:style>
          <a:lnRef idx="2">
            <a:schemeClr val="accent2"/>
          </a:lnRef>
          <a:fillRef idx="1">
            <a:schemeClr val="lt1"/>
          </a:fillRef>
          <a:effectRef idx="0">
            <a:schemeClr val="accent2"/>
          </a:effectRef>
          <a:fontRef idx="minor">
            <a:schemeClr val="dk1"/>
          </a:fontRef>
        </p:style>
        <p:txBody>
          <a:bodyPr/>
          <a:lstStyle/>
          <a:p>
            <a:pPr>
              <a:buClr>
                <a:srgbClr val="000000"/>
              </a:buClr>
              <a:buSzPct val="100000"/>
            </a:pPr>
            <a:r>
              <a:rPr lang="en-US" altLang="en-US" sz="2400" b="1" dirty="0">
                <a:solidFill>
                  <a:schemeClr val="accent1">
                    <a:lumMod val="75000"/>
                  </a:schemeClr>
                </a:solidFill>
                <a:latin typeface="Times New Roman" panose="02020603050405020304" pitchFamily="18" charset="0"/>
                <a:cs typeface="Times New Roman" panose="02020603050405020304" pitchFamily="18" charset="0"/>
              </a:rPr>
              <a:t>Technology: Python</a:t>
            </a:r>
          </a:p>
        </p:txBody>
      </p:sp>
      <p:pic>
        <p:nvPicPr>
          <p:cNvPr id="8" name="Picture 7"/>
          <p:cNvPicPr/>
          <p:nvPr/>
        </p:nvPicPr>
        <p:blipFill>
          <a:blip r:embed="rId2" cstate="print">
            <a:extLst>
              <a:ext uri="{28A0092B-C50C-407E-A947-70E740481C1C}">
                <a14:useLocalDpi xmlns:a14="http://schemas.microsoft.com/office/drawing/2010/main" val="0"/>
              </a:ext>
            </a:extLst>
          </a:blip>
          <a:stretch>
            <a:fillRect/>
          </a:stretch>
        </p:blipFill>
        <p:spPr>
          <a:xfrm>
            <a:off x="10753733" y="54611"/>
            <a:ext cx="1400175" cy="528486"/>
          </a:xfrm>
          <a:prstGeom prst="rect">
            <a:avLst/>
          </a:prstGeom>
        </p:spPr>
      </p:pic>
    </p:spTree>
    <p:extLst>
      <p:ext uri="{BB962C8B-B14F-4D97-AF65-F5344CB8AC3E}">
        <p14:creationId xmlns:p14="http://schemas.microsoft.com/office/powerpoint/2010/main" val="4285016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20281" y="196828"/>
            <a:ext cx="8911687" cy="677815"/>
          </a:xfrm>
        </p:spPr>
        <p:txBody>
          <a:bodyPr>
            <a:normAutofit fontScale="90000"/>
          </a:bodyPr>
          <a:lstStyle/>
          <a:p>
            <a:pPr algn="ctr"/>
            <a:r>
              <a:rPr lang="en-US" sz="2400" b="1" dirty="0">
                <a:latin typeface="Times New Roman" panose="02020603050405020304" pitchFamily="18" charset="0"/>
                <a:cs typeface="Times New Roman" panose="02020603050405020304" pitchFamily="18" charset="0"/>
              </a:rPr>
              <a:t>INDEX</a:t>
            </a:r>
            <a:r>
              <a:rPr lang="en-US" altLang="en-US" sz="2400" b="1" dirty="0">
                <a:latin typeface="Times New Roman" panose="02020603050405020304" pitchFamily="18" charset="0"/>
                <a:cs typeface="Times New Roman" panose="02020603050405020304" pitchFamily="18" charset="0"/>
              </a:rPr>
              <a:t/>
            </a:r>
            <a:br>
              <a:rPr lang="en-US" altLang="en-US" sz="2400" b="1" dirty="0">
                <a:latin typeface="Times New Roman" panose="02020603050405020304" pitchFamily="18" charset="0"/>
                <a:cs typeface="Times New Roman" panose="02020603050405020304" pitchFamily="18" charset="0"/>
              </a:rPr>
            </a:br>
            <a:endParaRPr lang="en-US" sz="2400" b="1" dirty="0">
              <a:latin typeface="Times New Roman" panose="02020603050405020304" pitchFamily="18" charset="0"/>
              <a:cs typeface="Times New Roman" panose="02020603050405020304" pitchFamily="18" charset="0"/>
            </a:endParaRPr>
          </a:p>
        </p:txBody>
      </p:sp>
      <p:pic>
        <p:nvPicPr>
          <p:cNvPr id="6" name="Picture 5"/>
          <p:cNvPicPr/>
          <p:nvPr/>
        </p:nvPicPr>
        <p:blipFill>
          <a:blip r:embed="rId2" cstate="print">
            <a:extLst>
              <a:ext uri="{28A0092B-C50C-407E-A947-70E740481C1C}">
                <a14:useLocalDpi xmlns:a14="http://schemas.microsoft.com/office/drawing/2010/main" val="0"/>
              </a:ext>
            </a:extLst>
          </a:blip>
          <a:stretch>
            <a:fillRect/>
          </a:stretch>
        </p:blipFill>
        <p:spPr>
          <a:xfrm>
            <a:off x="10791825" y="0"/>
            <a:ext cx="1400175" cy="465455"/>
          </a:xfrm>
          <a:prstGeom prst="rect">
            <a:avLst/>
          </a:prstGeom>
        </p:spPr>
      </p:pic>
      <p:sp>
        <p:nvSpPr>
          <p:cNvPr id="7" name="Content Placeholder 2"/>
          <p:cNvSpPr txBox="1">
            <a:spLocks/>
          </p:cNvSpPr>
          <p:nvPr/>
        </p:nvSpPr>
        <p:spPr>
          <a:xfrm>
            <a:off x="2246643" y="689113"/>
            <a:ext cx="8911687" cy="5972059"/>
          </a:xfrm>
          <a:prstGeom prst="rect">
            <a:avLst/>
          </a:prstGeom>
        </p:spPr>
        <p:txBody>
          <a:bodyPr vert="horz" lIns="91440" tIns="45720" rIns="91440" bIns="45720" numCol="2"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Abstract</a:t>
            </a:r>
          </a:p>
          <a:p>
            <a:pPr>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Introduction</a:t>
            </a:r>
          </a:p>
          <a:p>
            <a:pPr>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Literature review</a:t>
            </a:r>
          </a:p>
          <a:p>
            <a:pPr>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Existing Method</a:t>
            </a:r>
          </a:p>
          <a:p>
            <a:pPr>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Drawbacks</a:t>
            </a:r>
          </a:p>
          <a:p>
            <a:pPr>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Proposed method				</a:t>
            </a:r>
          </a:p>
          <a:p>
            <a:pPr>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Advantages</a:t>
            </a:r>
          </a:p>
          <a:p>
            <a:pPr>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Implementation</a:t>
            </a:r>
          </a:p>
          <a:p>
            <a:pPr>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Modules</a:t>
            </a:r>
          </a:p>
          <a:p>
            <a:pPr>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Hardware and Software </a:t>
            </a:r>
            <a:r>
              <a:rPr lang="en-US" sz="2000" dirty="0" smtClean="0">
                <a:solidFill>
                  <a:schemeClr val="tx1">
                    <a:lumMod val="95000"/>
                    <a:lumOff val="5000"/>
                  </a:schemeClr>
                </a:solidFill>
                <a:latin typeface="Times New Roman" panose="02020603050405020304" pitchFamily="18" charset="0"/>
                <a:cs typeface="Times New Roman" panose="02020603050405020304" pitchFamily="18" charset="0"/>
              </a:rPr>
              <a:t>Requirements</a:t>
            </a:r>
          </a:p>
          <a:p>
            <a:pPr>
              <a:buFont typeface="Wingdings" panose="05000000000000000000" pitchFamily="2" charset="2"/>
              <a:buChar char="Ø"/>
            </a:pPr>
            <a:r>
              <a:rPr lang="en-US" sz="2000" dirty="0" smtClean="0">
                <a:solidFill>
                  <a:schemeClr val="tx1">
                    <a:lumMod val="95000"/>
                    <a:lumOff val="5000"/>
                  </a:schemeClr>
                </a:solidFill>
                <a:latin typeface="Times New Roman" panose="02020603050405020304" pitchFamily="18" charset="0"/>
                <a:cs typeface="Times New Roman" panose="02020603050405020304" pitchFamily="18" charset="0"/>
              </a:rPr>
              <a:t>Algorithms</a:t>
            </a:r>
          </a:p>
          <a:p>
            <a:pPr>
              <a:buFont typeface="Wingdings" panose="05000000000000000000" pitchFamily="2" charset="2"/>
              <a:buChar char="Ø"/>
            </a:pPr>
            <a:r>
              <a:rPr lang="en-US" sz="2000" dirty="0" smtClean="0">
                <a:solidFill>
                  <a:schemeClr val="tx1">
                    <a:lumMod val="95000"/>
                    <a:lumOff val="5000"/>
                  </a:schemeClr>
                </a:solidFill>
                <a:latin typeface="Times New Roman" panose="02020603050405020304" pitchFamily="18" charset="0"/>
                <a:cs typeface="Times New Roman" panose="02020603050405020304" pitchFamily="18" charset="0"/>
              </a:rPr>
              <a:t>UML Diagrams</a:t>
            </a:r>
            <a:endParaRPr lang="en-US" sz="2000" dirty="0">
              <a:solidFill>
                <a:schemeClr val="tx1">
                  <a:lumMod val="95000"/>
                  <a:lumOff val="5000"/>
                </a:schemeClr>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Results</a:t>
            </a:r>
          </a:p>
          <a:p>
            <a:pPr>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Conclusion</a:t>
            </a:r>
          </a:p>
          <a:p>
            <a:pPr>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1917051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0004" y="102709"/>
            <a:ext cx="8911687" cy="567604"/>
          </a:xfrm>
        </p:spPr>
        <p:txBody>
          <a:bodyPr>
            <a:normAutofit/>
          </a:bodyPr>
          <a:lstStyle/>
          <a:p>
            <a:pPr algn="ctr"/>
            <a:r>
              <a:rPr lang="en-US" sz="2400" b="1" dirty="0">
                <a:latin typeface="Times New Roman" panose="02020603050405020304" pitchFamily="18" charset="0"/>
                <a:cs typeface="Times New Roman" panose="02020603050405020304" pitchFamily="18" charset="0"/>
              </a:rPr>
              <a:t>ABSTRACT</a:t>
            </a:r>
            <a:endParaRPr lang="en-US" sz="2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147532" y="683769"/>
            <a:ext cx="10507848" cy="5742789"/>
          </a:xfrm>
        </p:spPr>
        <p:txBody>
          <a:bodyPr>
            <a:noAutofit/>
          </a:bodyPr>
          <a:lstStyle/>
          <a:p>
            <a:pPr marL="0" indent="0" algn="just">
              <a:lnSpc>
                <a:spcPct val="150000"/>
              </a:lnSpc>
              <a:buNone/>
            </a:pPr>
            <a:r>
              <a:rPr lang="en-IN" sz="2000" dirty="0">
                <a:latin typeface="Times New Roman" panose="02020603050405020304" pitchFamily="18" charset="0"/>
                <a:cs typeface="Times New Roman" panose="02020603050405020304" pitchFamily="18" charset="0"/>
              </a:rPr>
              <a:t>Computer networks intrusion detection systems (IDSs) and intrusion prevention systems (IPSs) are critical aspects that contribute to the success of an organization. Over the past years, IDSs and IPSs using different approaches have been developed and implemented to ensure that computer networks within enterprises are secure, reliable and available. In this paper, we focus on IDSs that are built using machine learning (ML) techniques. IDSs based on ML methods are effective and accurate in detecting networks attacks. However, the performance of these systems decreases for high dimensional data spaces. Therefore, it is crucial to implement an appropriate feature extraction method that can prune some of the features that do not possess a great impact in the </a:t>
            </a:r>
            <a:r>
              <a:rPr lang="en-IN" sz="2000" dirty="0" err="1">
                <a:latin typeface="Times New Roman" panose="02020603050405020304" pitchFamily="18" charset="0"/>
                <a:cs typeface="Times New Roman" panose="02020603050405020304" pitchFamily="18" charset="0"/>
              </a:rPr>
              <a:t>classifcation</a:t>
            </a:r>
            <a:r>
              <a:rPr lang="en-IN" sz="2000" dirty="0">
                <a:latin typeface="Times New Roman" panose="02020603050405020304" pitchFamily="18" charset="0"/>
                <a:cs typeface="Times New Roman" panose="02020603050405020304" pitchFamily="18" charset="0"/>
              </a:rPr>
              <a:t> process. Moreover, many of the ML based IDSs suffer from an increase in false positive rate and a low detection accuracy when the models are trained on highly imbalanced datasets. In this paper, we present an analysis the UNSW-NB15 intrusion detection dataset that will be used for training and testing our models. </a:t>
            </a:r>
            <a:endParaRPr lang="en-IN" sz="1800" dirty="0">
              <a:latin typeface="Times New Roman" panose="02020603050405020304" pitchFamily="18" charset="0"/>
              <a:cs typeface="Times New Roman" panose="02020603050405020304" pitchFamily="18" charset="0"/>
            </a:endParaRPr>
          </a:p>
        </p:txBody>
      </p:sp>
      <p:pic>
        <p:nvPicPr>
          <p:cNvPr id="6" name="Picture 5"/>
          <p:cNvPicPr/>
          <p:nvPr/>
        </p:nvPicPr>
        <p:blipFill>
          <a:blip r:embed="rId2" cstate="print">
            <a:extLst>
              <a:ext uri="{28A0092B-C50C-407E-A947-70E740481C1C}">
                <a14:useLocalDpi xmlns:a14="http://schemas.microsoft.com/office/drawing/2010/main" val="0"/>
              </a:ext>
            </a:extLst>
          </a:blip>
          <a:stretch>
            <a:fillRect/>
          </a:stretch>
        </p:blipFill>
        <p:spPr>
          <a:xfrm>
            <a:off x="10672549" y="102709"/>
            <a:ext cx="1405221" cy="593327"/>
          </a:xfrm>
          <a:prstGeom prst="rect">
            <a:avLst/>
          </a:prstGeom>
        </p:spPr>
      </p:pic>
    </p:spTree>
    <p:extLst>
      <p:ext uri="{BB962C8B-B14F-4D97-AF65-F5344CB8AC3E}">
        <p14:creationId xmlns:p14="http://schemas.microsoft.com/office/powerpoint/2010/main" val="21305756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20462" y="569353"/>
            <a:ext cx="10225826" cy="4708981"/>
          </a:xfrm>
          <a:prstGeom prst="rect">
            <a:avLst/>
          </a:prstGeom>
        </p:spPr>
        <p:txBody>
          <a:bodyPr wrap="square">
            <a:spAutoFit/>
          </a:bodyPr>
          <a:lstStyle/>
          <a:p>
            <a:pPr algn="just">
              <a:lnSpc>
                <a:spcPct val="150000"/>
              </a:lnSpc>
            </a:pPr>
            <a:r>
              <a:rPr lang="en-IN" sz="2000" dirty="0" smtClean="0">
                <a:latin typeface="Times New Roman" panose="02020603050405020304" pitchFamily="18" charset="0"/>
                <a:cs typeface="Times New Roman" panose="02020603050405020304" pitchFamily="18" charset="0"/>
              </a:rPr>
              <a:t>Moreover, we apply a </a:t>
            </a:r>
            <a:r>
              <a:rPr lang="en-IN" sz="2000" dirty="0" err="1" smtClean="0">
                <a:latin typeface="Times New Roman" panose="02020603050405020304" pitchFamily="18" charset="0"/>
                <a:cs typeface="Times New Roman" panose="02020603050405020304" pitchFamily="18" charset="0"/>
              </a:rPr>
              <a:t>flter</a:t>
            </a:r>
            <a:r>
              <a:rPr lang="en-IN" sz="2000" dirty="0" smtClean="0">
                <a:latin typeface="Times New Roman" panose="02020603050405020304" pitchFamily="18" charset="0"/>
                <a:cs typeface="Times New Roman" panose="02020603050405020304" pitchFamily="18" charset="0"/>
              </a:rPr>
              <a:t>-based feature reduction technique using the XGBoost algorithm. We then implement the following ML approaches using the reduced feature space: Support Vector Machine (SVM), k-Nearest-Neighbour (</a:t>
            </a:r>
            <a:r>
              <a:rPr lang="en-IN" sz="2000" dirty="0">
                <a:latin typeface="Times New Roman" panose="02020603050405020304" pitchFamily="18" charset="0"/>
                <a:cs typeface="Times New Roman" panose="02020603050405020304" pitchFamily="18" charset="0"/>
              </a:rPr>
              <a:t>K</a:t>
            </a:r>
            <a:r>
              <a:rPr lang="en-IN" sz="2000" dirty="0" smtClean="0">
                <a:latin typeface="Times New Roman" panose="02020603050405020304" pitchFamily="18" charset="0"/>
                <a:cs typeface="Times New Roman" panose="02020603050405020304" pitchFamily="18" charset="0"/>
              </a:rPr>
              <a:t>NN), Logistic Regression (LR), Artifcial Neural Network (ANN) and Decision Tree (DT). In our experiments, we considered both the binary and multiclass classification configurations. The results demonstrated that the XGBoost-based feature selection method allows for methods such as the DT to increase its test accuracy for the binary classification scheme.</a:t>
            </a:r>
          </a:p>
          <a:p>
            <a:pPr algn="just">
              <a:lnSpc>
                <a:spcPct val="150000"/>
              </a:lnSpc>
            </a:pPr>
            <a:endParaRPr lang="en-IN" sz="2000" dirty="0" smtClean="0">
              <a:latin typeface="Times New Roman" panose="02020603050405020304" pitchFamily="18" charset="0"/>
              <a:cs typeface="Times New Roman" panose="02020603050405020304" pitchFamily="18" charset="0"/>
            </a:endParaRPr>
          </a:p>
          <a:p>
            <a:pPr algn="just">
              <a:lnSpc>
                <a:spcPct val="150000"/>
              </a:lnSpc>
            </a:pPr>
            <a:r>
              <a:rPr lang="en-IN" sz="2000" b="1" dirty="0" smtClean="0">
                <a:latin typeface="Times New Roman" panose="02020603050405020304" pitchFamily="18" charset="0"/>
                <a:cs typeface="Times New Roman" panose="02020603050405020304" pitchFamily="18" charset="0"/>
              </a:rPr>
              <a:t>Keywords: </a:t>
            </a:r>
            <a:r>
              <a:rPr lang="en-IN" sz="2000" dirty="0">
                <a:latin typeface="Times New Roman" panose="02020603050405020304" pitchFamily="18" charset="0"/>
                <a:cs typeface="Times New Roman" panose="02020603050405020304" pitchFamily="18" charset="0"/>
              </a:rPr>
              <a:t>Machine learning, Feature engineering, Computer networks, Intrusion detection</a:t>
            </a:r>
            <a:r>
              <a:rPr lang="en-IN" sz="2000" dirty="0" smtClean="0">
                <a:latin typeface="Times New Roman" panose="02020603050405020304" pitchFamily="18" charset="0"/>
                <a:cs typeface="Times New Roman" panose="02020603050405020304" pitchFamily="18" charset="0"/>
              </a:rPr>
              <a:t>.</a:t>
            </a:r>
          </a:p>
          <a:p>
            <a:pPr algn="just">
              <a:lnSpc>
                <a:spcPct val="150000"/>
              </a:lnSpc>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021627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8300" y="449827"/>
            <a:ext cx="8911687" cy="1280890"/>
          </a:xfrm>
        </p:spPr>
        <p:txBody>
          <a:bodyPr>
            <a:normAutofit fontScale="90000"/>
          </a:bodyPr>
          <a:lstStyle/>
          <a:p>
            <a:pPr algn="ctr"/>
            <a:r>
              <a:rPr lang="en-US" sz="2700" b="1" dirty="0">
                <a:latin typeface="Times New Roman" panose="02020603050405020304" pitchFamily="18" charset="0"/>
                <a:cs typeface="Times New Roman" panose="02020603050405020304" pitchFamily="18" charset="0"/>
              </a:rPr>
              <a:t>INTRODUCTION</a:t>
            </a:r>
            <a:r>
              <a:rPr lang="en-US" altLang="en-US" sz="2700" b="1" dirty="0">
                <a:latin typeface="Times New Roman" panose="02020603050405020304" pitchFamily="18" charset="0"/>
                <a:cs typeface="Times New Roman" panose="02020603050405020304" pitchFamily="18" charset="0"/>
              </a:rPr>
              <a:t/>
            </a:r>
            <a:br>
              <a:rPr lang="en-US" altLang="en-US" sz="2700" b="1"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 </a:t>
            </a:r>
            <a:br>
              <a:rPr lang="en-US" altLang="en-US" dirty="0">
                <a:latin typeface="Times New Roman" panose="02020603050405020304" pitchFamily="18" charset="0"/>
                <a:cs typeface="Times New Roman" panose="02020603050405020304" pitchFamily="18" charset="0"/>
              </a:rPr>
            </a:br>
            <a:endParaRPr lang="en-US" dirty="0"/>
          </a:p>
        </p:txBody>
      </p:sp>
      <p:sp>
        <p:nvSpPr>
          <p:cNvPr id="3" name="Content Placeholder 2"/>
          <p:cNvSpPr>
            <a:spLocks noGrp="1"/>
          </p:cNvSpPr>
          <p:nvPr>
            <p:ph idx="1"/>
          </p:nvPr>
        </p:nvSpPr>
        <p:spPr>
          <a:xfrm>
            <a:off x="1024285" y="723331"/>
            <a:ext cx="10322002" cy="5832015"/>
          </a:xfrm>
        </p:spPr>
        <p:txBody>
          <a:bodyPr>
            <a:noAutofit/>
          </a:bodyPr>
          <a:lstStyle/>
          <a:p>
            <a:pPr marL="0" indent="0" algn="just">
              <a:lnSpc>
                <a:spcPct val="150000"/>
              </a:lnSpc>
              <a:buNone/>
            </a:pPr>
            <a:r>
              <a:rPr lang="en-IN" sz="2000" dirty="0">
                <a:latin typeface="Times New Roman" panose="02020603050405020304" pitchFamily="18" charset="0"/>
                <a:cs typeface="Times New Roman" panose="02020603050405020304" pitchFamily="18" charset="0"/>
              </a:rPr>
              <a:t>The rapid pace at which technologies such as the Internet, Internet-of-Tings (IoT) and communication systems is advancing has caused hackers to evolve with a higher velocity in terms of their capabilities. These criminals strive to discover new ways to compromise computer networks security. Therefore, Intrusion Detection Systems (IDSs) inherently become critical components in a computer network. An IDS is defend as a hardware or a software system that monitors an organization’s computer network for imminent and potential threats or attacks. Moreover, an IDS is capable of responding to any malicious transactions and report them accordingly. IDSs are categorized in 3 broad classes, namely, node or host based IDS (HIDS) network or distributed IDS (DIDS or NIDS) and Hybrid IDS (HYIDS) this </a:t>
            </a:r>
            <a:r>
              <a:rPr lang="en-IN" sz="2000" dirty="0" smtClean="0">
                <a:latin typeface="Times New Roman" panose="02020603050405020304" pitchFamily="18" charset="0"/>
                <a:cs typeface="Times New Roman" panose="02020603050405020304" pitchFamily="18" charset="0"/>
              </a:rPr>
              <a:t>classification </a:t>
            </a:r>
            <a:r>
              <a:rPr lang="en-IN" sz="2000" dirty="0">
                <a:latin typeface="Times New Roman" panose="02020603050405020304" pitchFamily="18" charset="0"/>
                <a:cs typeface="Times New Roman" panose="02020603050405020304" pitchFamily="18" charset="0"/>
              </a:rPr>
              <a:t>is based on the specific IDS operation philosophy. HIDS runs on a single node computer system and it is concerned with the security related to its host. In contrast, a DIDS runs on a distributed computer network and analyses the traffic at the network level for suspicious activities. </a:t>
            </a:r>
          </a:p>
        </p:txBody>
      </p:sp>
      <p:pic>
        <p:nvPicPr>
          <p:cNvPr id="6" name="Picture 5"/>
          <p:cNvPicPr/>
          <p:nvPr/>
        </p:nvPicPr>
        <p:blipFill>
          <a:blip r:embed="rId2" cstate="print">
            <a:extLst>
              <a:ext uri="{28A0092B-C50C-407E-A947-70E740481C1C}">
                <a14:useLocalDpi xmlns:a14="http://schemas.microsoft.com/office/drawing/2010/main" val="0"/>
              </a:ext>
            </a:extLst>
          </a:blip>
          <a:stretch>
            <a:fillRect/>
          </a:stretch>
        </p:blipFill>
        <p:spPr>
          <a:xfrm>
            <a:off x="10549987" y="189850"/>
            <a:ext cx="1500489" cy="533481"/>
          </a:xfrm>
          <a:prstGeom prst="rect">
            <a:avLst/>
          </a:prstGeom>
        </p:spPr>
      </p:pic>
    </p:spTree>
    <p:extLst>
      <p:ext uri="{BB962C8B-B14F-4D97-AF65-F5344CB8AC3E}">
        <p14:creationId xmlns:p14="http://schemas.microsoft.com/office/powerpoint/2010/main" val="3655250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98490" y="463639"/>
            <a:ext cx="10792496" cy="6044603"/>
          </a:xfrm>
          <a:prstGeom prst="rect">
            <a:avLst/>
          </a:prstGeom>
        </p:spPr>
        <p:txBody>
          <a:bodyPr wrap="square">
            <a:spAutoFit/>
          </a:bodyPr>
          <a:lstStyle/>
          <a:p>
            <a:pPr algn="just">
              <a:lnSpc>
                <a:spcPct val="150000"/>
              </a:lnSpc>
            </a:pPr>
            <a:r>
              <a:rPr lang="en-IN" sz="2000" dirty="0">
                <a:latin typeface="Times New Roman" panose="02020603050405020304" pitchFamily="18" charset="0"/>
                <a:cs typeface="Times New Roman" panose="02020603050405020304" pitchFamily="18" charset="0"/>
              </a:rPr>
              <a:t>A signature-based IDS uses an existing data store of previously intercepted attacks in order to detect intrusions. In contrast, an anomaly-based IDS is concerned with the behaviour of the network. It constantly checks for activities that constitute unusual behaviour and fags them. Finally, hybrid based IDS is a combination of both anomaly-based and signature-based IDSs. The primary philosophical design goal of an IDS is to minimise instances of false positive alarms and to increase its detection accuracy. Therefore, the design and implementation of any IDS must take that philosophy in consideration. In recent years, Machine Learning (ML) based IDSs have emerged as the leading systems in the intrusion detection research domain. ML gives systems the ability of learning and improving by using previous data. In other words, ML based computer programs do not need to be explicitly engineered (programmed). They are capable of learning by themselves [8]. Broadly speaking, there exist the following sorts of ML philosophies, namely, supervised ML and unsupervised ML. In the case of supervised ML, models are learned using data that is labelled. In the instance of unsupervised ML, the data that is used to train models is unstructured (unlabelled). </a:t>
            </a:r>
          </a:p>
        </p:txBody>
      </p:sp>
    </p:spTree>
    <p:extLst>
      <p:ext uri="{BB962C8B-B14F-4D97-AF65-F5344CB8AC3E}">
        <p14:creationId xmlns:p14="http://schemas.microsoft.com/office/powerpoint/2010/main" val="13407904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2866" y="245111"/>
            <a:ext cx="8802955" cy="628346"/>
          </a:xfrm>
        </p:spPr>
        <p:txBody>
          <a:bodyPr>
            <a:normAutofit fontScale="90000"/>
          </a:bodyPr>
          <a:lstStyle/>
          <a:p>
            <a:pPr algn="ctr"/>
            <a:r>
              <a:rPr lang="en-US" sz="2700" b="1" dirty="0">
                <a:latin typeface="Times New Roman" panose="02020603050405020304" pitchFamily="18" charset="0"/>
                <a:cs typeface="Times New Roman" panose="02020603050405020304" pitchFamily="18" charset="0"/>
              </a:rPr>
              <a:t>LITERATURE REVIEW</a:t>
            </a:r>
            <a:r>
              <a:rPr lang="en-US" altLang="en-US" b="1" dirty="0">
                <a:latin typeface="Times New Roman" panose="02020603050405020304" pitchFamily="18" charset="0"/>
                <a:cs typeface="Times New Roman" panose="02020603050405020304" pitchFamily="18" charset="0"/>
              </a:rPr>
              <a:t/>
            </a:r>
            <a:br>
              <a:rPr lang="en-US" altLang="en-US" b="1"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
            </a:r>
            <a:br>
              <a:rPr lang="en-US" altLang="en-US" dirty="0">
                <a:latin typeface="Times New Roman" panose="02020603050405020304" pitchFamily="18" charset="0"/>
                <a:cs typeface="Times New Roman" panose="02020603050405020304" pitchFamily="18" charset="0"/>
              </a:rPr>
            </a:br>
            <a:endParaRPr lang="en-US" dirty="0"/>
          </a:p>
        </p:txBody>
      </p:sp>
      <p:graphicFrame>
        <p:nvGraphicFramePr>
          <p:cNvPr id="4" name="Content Placeholder 3"/>
          <p:cNvGraphicFramePr>
            <a:graphicFrameLocks noGrp="1"/>
          </p:cNvGraphicFramePr>
          <p:nvPr>
            <p:ph idx="1"/>
            <p:extLst/>
          </p:nvPr>
        </p:nvGraphicFramePr>
        <p:xfrm>
          <a:off x="805218" y="641445"/>
          <a:ext cx="10970015" cy="5697748"/>
        </p:xfrm>
        <a:graphic>
          <a:graphicData uri="http://schemas.openxmlformats.org/drawingml/2006/table">
            <a:tbl>
              <a:tblPr firstRow="1" bandRow="1">
                <a:tableStyleId>{5940675A-B579-460E-94D1-54222C63F5DA}</a:tableStyleId>
              </a:tblPr>
              <a:tblGrid>
                <a:gridCol w="597296">
                  <a:extLst>
                    <a:ext uri="{9D8B030D-6E8A-4147-A177-3AD203B41FA5}">
                      <a16:colId xmlns:a16="http://schemas.microsoft.com/office/drawing/2014/main" xmlns="" val="20000"/>
                    </a:ext>
                  </a:extLst>
                </a:gridCol>
                <a:gridCol w="2364268">
                  <a:extLst>
                    <a:ext uri="{9D8B030D-6E8A-4147-A177-3AD203B41FA5}">
                      <a16:colId xmlns:a16="http://schemas.microsoft.com/office/drawing/2014/main" xmlns="" val="20001"/>
                    </a:ext>
                  </a:extLst>
                </a:gridCol>
                <a:gridCol w="2019869">
                  <a:extLst>
                    <a:ext uri="{9D8B030D-6E8A-4147-A177-3AD203B41FA5}">
                      <a16:colId xmlns:a16="http://schemas.microsoft.com/office/drawing/2014/main" xmlns="" val="20002"/>
                    </a:ext>
                  </a:extLst>
                </a:gridCol>
                <a:gridCol w="2306471">
                  <a:extLst>
                    <a:ext uri="{9D8B030D-6E8A-4147-A177-3AD203B41FA5}">
                      <a16:colId xmlns:a16="http://schemas.microsoft.com/office/drawing/2014/main" xmlns="" val="20003"/>
                    </a:ext>
                  </a:extLst>
                </a:gridCol>
                <a:gridCol w="3682111">
                  <a:extLst>
                    <a:ext uri="{9D8B030D-6E8A-4147-A177-3AD203B41FA5}">
                      <a16:colId xmlns:a16="http://schemas.microsoft.com/office/drawing/2014/main" xmlns="" val="20004"/>
                    </a:ext>
                  </a:extLst>
                </a:gridCol>
              </a:tblGrid>
              <a:tr h="568746">
                <a:tc>
                  <a:txBody>
                    <a:bodyPr/>
                    <a:lstStyle/>
                    <a:p>
                      <a:pPr algn="ctr"/>
                      <a:r>
                        <a:rPr lang="en-US" sz="1600" b="1" dirty="0">
                          <a:solidFill>
                            <a:srgbClr val="00B0F0"/>
                          </a:solidFill>
                          <a:latin typeface="Times New Roman" panose="02020603050405020304" pitchFamily="18" charset="0"/>
                          <a:cs typeface="Times New Roman" panose="02020603050405020304" pitchFamily="18" charset="0"/>
                        </a:rPr>
                        <a:t>S. No</a:t>
                      </a:r>
                    </a:p>
                  </a:txBody>
                  <a:tcPr anchor="ctr"/>
                </a:tc>
                <a:tc>
                  <a:txBody>
                    <a:bodyPr/>
                    <a:lstStyle/>
                    <a:p>
                      <a:pPr algn="ctr"/>
                      <a:r>
                        <a:rPr lang="en-US" sz="1600" b="1" dirty="0">
                          <a:solidFill>
                            <a:srgbClr val="00B0F0"/>
                          </a:solidFill>
                          <a:latin typeface="Times New Roman" panose="02020603050405020304" pitchFamily="18" charset="0"/>
                          <a:cs typeface="Times New Roman" panose="02020603050405020304" pitchFamily="18" charset="0"/>
                        </a:rPr>
                        <a:t>Journal Type </a:t>
                      </a:r>
                      <a:r>
                        <a:rPr lang="en-US" sz="1600" b="1" baseline="0" dirty="0">
                          <a:solidFill>
                            <a:srgbClr val="00B0F0"/>
                          </a:solidFill>
                          <a:latin typeface="Times New Roman" panose="02020603050405020304" pitchFamily="18" charset="0"/>
                          <a:cs typeface="Times New Roman" panose="02020603050405020304" pitchFamily="18" charset="0"/>
                        </a:rPr>
                        <a:t>with year</a:t>
                      </a:r>
                      <a:endParaRPr lang="en-US" sz="1600" b="1" dirty="0">
                        <a:solidFill>
                          <a:srgbClr val="00B0F0"/>
                        </a:solidFill>
                        <a:latin typeface="Times New Roman" panose="02020603050405020304" pitchFamily="18" charset="0"/>
                        <a:cs typeface="Times New Roman" panose="02020603050405020304" pitchFamily="18" charset="0"/>
                      </a:endParaRPr>
                    </a:p>
                  </a:txBody>
                  <a:tcPr anchor="ctr"/>
                </a:tc>
                <a:tc>
                  <a:txBody>
                    <a:bodyPr/>
                    <a:lstStyle/>
                    <a:p>
                      <a:pPr algn="ctr"/>
                      <a:r>
                        <a:rPr lang="en-US" sz="1600" b="1" dirty="0">
                          <a:solidFill>
                            <a:srgbClr val="00B0F0"/>
                          </a:solidFill>
                          <a:latin typeface="Times New Roman" panose="02020603050405020304" pitchFamily="18" charset="0"/>
                          <a:cs typeface="Times New Roman" panose="02020603050405020304" pitchFamily="18" charset="0"/>
                        </a:rPr>
                        <a:t>Authors</a:t>
                      </a:r>
                    </a:p>
                  </a:txBody>
                  <a:tcPr anchor="ctr"/>
                </a:tc>
                <a:tc>
                  <a:txBody>
                    <a:bodyPr/>
                    <a:lstStyle/>
                    <a:p>
                      <a:pPr algn="ctr"/>
                      <a:r>
                        <a:rPr lang="en-US" sz="1600" b="1" dirty="0">
                          <a:solidFill>
                            <a:srgbClr val="00B0F0"/>
                          </a:solidFill>
                          <a:latin typeface="Times New Roman" panose="02020603050405020304" pitchFamily="18" charset="0"/>
                          <a:cs typeface="Times New Roman" panose="02020603050405020304" pitchFamily="18" charset="0"/>
                        </a:rPr>
                        <a:t>Title</a:t>
                      </a:r>
                    </a:p>
                  </a:txBody>
                  <a:tcPr anchor="ctr"/>
                </a:tc>
                <a:tc>
                  <a:txBody>
                    <a:bodyPr/>
                    <a:lstStyle/>
                    <a:p>
                      <a:pPr algn="ctr"/>
                      <a:r>
                        <a:rPr lang="en-US" sz="1600" b="1" dirty="0">
                          <a:solidFill>
                            <a:srgbClr val="00B0F0"/>
                          </a:solidFill>
                          <a:latin typeface="Times New Roman" panose="02020603050405020304" pitchFamily="18" charset="0"/>
                          <a:cs typeface="Times New Roman" panose="02020603050405020304" pitchFamily="18" charset="0"/>
                        </a:rPr>
                        <a:t>Outcomes</a:t>
                      </a:r>
                    </a:p>
                  </a:txBody>
                  <a:tcPr anchor="ctr"/>
                </a:tc>
                <a:extLst>
                  <a:ext uri="{0D108BD9-81ED-4DB2-BD59-A6C34878D82A}">
                    <a16:rowId xmlns:a16="http://schemas.microsoft.com/office/drawing/2014/main" xmlns="" val="10000"/>
                  </a:ext>
                </a:extLst>
              </a:tr>
              <a:tr h="1269526">
                <a:tc>
                  <a:txBody>
                    <a:bodyPr/>
                    <a:lstStyle/>
                    <a:p>
                      <a:pPr algn="ctr"/>
                      <a:r>
                        <a:rPr lang="en-US" sz="1600" b="0" dirty="0">
                          <a:latin typeface="Times New Roman" panose="02020603050405020304" pitchFamily="18" charset="0"/>
                          <a:cs typeface="Times New Roman" panose="02020603050405020304" pitchFamily="18" charset="0"/>
                        </a:rPr>
                        <a:t>1</a:t>
                      </a:r>
                    </a:p>
                  </a:txBody>
                  <a:tcPr anchor="ctr"/>
                </a:tc>
                <a:tc>
                  <a:txBody>
                    <a:bodyPr/>
                    <a:lstStyle/>
                    <a:p>
                      <a:pPr algn="ctr"/>
                      <a:r>
                        <a:rPr lang="en-IN" sz="1400" b="0" i="0" kern="1200" dirty="0" smtClean="0">
                          <a:solidFill>
                            <a:schemeClr val="tx1"/>
                          </a:solidFill>
                          <a:effectLst/>
                          <a:latin typeface="Times New Roman" panose="02020603050405020304" pitchFamily="18" charset="0"/>
                          <a:ea typeface="+mn-ea"/>
                          <a:cs typeface="Times New Roman" panose="02020603050405020304" pitchFamily="18" charset="0"/>
                        </a:rPr>
                        <a:t>IEEE, 2020</a:t>
                      </a:r>
                      <a:endParaRPr lang="en-US" sz="14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anchor="ctr"/>
                </a:tc>
                <a:tc>
                  <a:txBody>
                    <a:bodyPr/>
                    <a:lstStyle/>
                    <a:p>
                      <a:pPr algn="ctr"/>
                      <a:r>
                        <a:rPr lang="en-IN" sz="1400" b="0" kern="1200" dirty="0" err="1" smtClean="0">
                          <a:solidFill>
                            <a:schemeClr val="tx1"/>
                          </a:solidFill>
                          <a:effectLst/>
                          <a:latin typeface="Times New Roman" panose="02020603050405020304" pitchFamily="18" charset="0"/>
                          <a:ea typeface="+mn-ea"/>
                          <a:cs typeface="Times New Roman" panose="02020603050405020304" pitchFamily="18" charset="0"/>
                        </a:rPr>
                        <a:t>Ribeiro</a:t>
                      </a: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 J, </a:t>
                      </a:r>
                      <a:r>
                        <a:rPr lang="en-IN" sz="1400" b="0" kern="1200" dirty="0" err="1" smtClean="0">
                          <a:solidFill>
                            <a:schemeClr val="tx1"/>
                          </a:solidFill>
                          <a:effectLst/>
                          <a:latin typeface="Times New Roman" panose="02020603050405020304" pitchFamily="18" charset="0"/>
                          <a:ea typeface="+mn-ea"/>
                          <a:cs typeface="Times New Roman" panose="02020603050405020304" pitchFamily="18" charset="0"/>
                        </a:rPr>
                        <a:t>Saghezchi</a:t>
                      </a: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 FB, Mantas G, Rodriguez J, </a:t>
                      </a:r>
                      <a:r>
                        <a:rPr lang="en-IN" sz="1400" b="0" kern="1200" dirty="0" err="1" smtClean="0">
                          <a:solidFill>
                            <a:schemeClr val="tx1"/>
                          </a:solidFill>
                          <a:effectLst/>
                          <a:latin typeface="Times New Roman" panose="02020603050405020304" pitchFamily="18" charset="0"/>
                          <a:ea typeface="+mn-ea"/>
                          <a:cs typeface="Times New Roman" panose="02020603050405020304" pitchFamily="18" charset="0"/>
                        </a:rPr>
                        <a:t>Abd-Alhameed</a:t>
                      </a: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 RA</a:t>
                      </a:r>
                      <a:endParaRPr lang="en-US" sz="1400" b="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anchor="ctr"/>
                </a:tc>
                <a:tc>
                  <a:txBody>
                    <a:bodyPr/>
                    <a:lstStyle/>
                    <a:p>
                      <a:pPr algn="ctr"/>
                      <a:r>
                        <a:rPr lang="en-IN" sz="1400" b="0" kern="1200" dirty="0" err="1" smtClean="0">
                          <a:solidFill>
                            <a:schemeClr val="tx1"/>
                          </a:solidFill>
                          <a:effectLst/>
                          <a:latin typeface="Times New Roman" panose="02020603050405020304" pitchFamily="18" charset="0"/>
                          <a:ea typeface="+mn-ea"/>
                          <a:cs typeface="Times New Roman" panose="02020603050405020304" pitchFamily="18" charset="0"/>
                        </a:rPr>
                        <a:t>Hidroid</a:t>
                      </a: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 prototyping a </a:t>
                      </a:r>
                      <a:r>
                        <a:rPr lang="en-IN" sz="1400" b="0" kern="1200" dirty="0" err="1" smtClean="0">
                          <a:solidFill>
                            <a:schemeClr val="tx1"/>
                          </a:solidFill>
                          <a:effectLst/>
                          <a:latin typeface="Times New Roman" panose="02020603050405020304" pitchFamily="18" charset="0"/>
                          <a:ea typeface="+mn-ea"/>
                          <a:cs typeface="Times New Roman" panose="02020603050405020304" pitchFamily="18" charset="0"/>
                        </a:rPr>
                        <a:t>behavioral</a:t>
                      </a: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 host-based intrusion detection and prevention system for android</a:t>
                      </a:r>
                      <a:endParaRPr lang="en-US" sz="1400" b="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anchor="ctr"/>
                </a:tc>
                <a:tc>
                  <a:txBody>
                    <a:bodyPr/>
                    <a:lstStyle/>
                    <a:p>
                      <a:pPr algn="ct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In this paper, we develop a novel Host-based IDPS for Android (HIDROID), which runs completely on a mobile device, with a minimal computation burden</a:t>
                      </a:r>
                      <a:endParaRPr lang="en-IN" sz="1400" b="0" kern="1200" dirty="0">
                        <a:solidFill>
                          <a:schemeClr val="tx1"/>
                        </a:solidFill>
                        <a:effectLst/>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xmlns="" val="10001"/>
                  </a:ext>
                </a:extLst>
              </a:tr>
              <a:tr h="1269526">
                <a:tc>
                  <a:txBody>
                    <a:bodyPr/>
                    <a:lstStyle/>
                    <a:p>
                      <a:pPr algn="ctr"/>
                      <a:r>
                        <a:rPr lang="en-US" sz="1600" b="0" dirty="0">
                          <a:latin typeface="Times New Roman" panose="02020603050405020304" pitchFamily="18" charset="0"/>
                          <a:cs typeface="Times New Roman" panose="02020603050405020304" pitchFamily="18" charset="0"/>
                        </a:rPr>
                        <a:t>2</a:t>
                      </a:r>
                    </a:p>
                  </a:txBody>
                  <a:tcPr anchor="ctr"/>
                </a:tc>
                <a:tc>
                  <a:txBody>
                    <a:bodyPr/>
                    <a:lstStyle/>
                    <a:p>
                      <a:pPr algn="ctr"/>
                      <a:r>
                        <a:rPr lang="en-US" sz="1400" b="0" dirty="0" smtClean="0">
                          <a:latin typeface="Times New Roman" panose="02020603050405020304" pitchFamily="18" charset="0"/>
                          <a:cs typeface="Times New Roman" panose="02020603050405020304" pitchFamily="18" charset="0"/>
                        </a:rPr>
                        <a:t>IEEE, 2015</a:t>
                      </a:r>
                      <a:endParaRPr lang="en-IN" sz="1400" b="0" dirty="0">
                        <a:latin typeface="Times New Roman" panose="02020603050405020304" pitchFamily="18" charset="0"/>
                        <a:cs typeface="Times New Roman" panose="02020603050405020304" pitchFamily="18" charset="0"/>
                      </a:endParaRPr>
                    </a:p>
                  </a:txBody>
                  <a:tcPr anchor="ctr"/>
                </a:tc>
                <a:tc>
                  <a:txBody>
                    <a:bodyPr/>
                    <a:lstStyle/>
                    <a:p>
                      <a:pPr algn="ct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Van NTT, </a:t>
                      </a:r>
                      <a:r>
                        <a:rPr lang="en-IN" sz="1400" b="0" kern="1200" dirty="0" err="1" smtClean="0">
                          <a:solidFill>
                            <a:schemeClr val="tx1"/>
                          </a:solidFill>
                          <a:effectLst/>
                          <a:latin typeface="Times New Roman" panose="02020603050405020304" pitchFamily="18" charset="0"/>
                          <a:ea typeface="+mn-ea"/>
                          <a:cs typeface="Times New Roman" panose="02020603050405020304" pitchFamily="18" charset="0"/>
                        </a:rPr>
                        <a:t>Thinh</a:t>
                      </a: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 TN</a:t>
                      </a:r>
                      <a:endParaRPr lang="en-IN" sz="1400" b="0" dirty="0">
                        <a:latin typeface="Times New Roman" panose="02020603050405020304" pitchFamily="18" charset="0"/>
                        <a:cs typeface="Times New Roman" panose="02020603050405020304" pitchFamily="18" charset="0"/>
                      </a:endParaRPr>
                    </a:p>
                  </a:txBody>
                  <a:tcPr anchor="ctr"/>
                </a:tc>
                <a:tc>
                  <a:txBody>
                    <a:bodyPr/>
                    <a:lstStyle/>
                    <a:p>
                      <a:pPr algn="ct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Accelerating anomaly-based IDS using neural network on GPU</a:t>
                      </a:r>
                      <a:endParaRPr lang="en-IN" sz="1400" b="0" dirty="0">
                        <a:latin typeface="Times New Roman" panose="02020603050405020304" pitchFamily="18" charset="0"/>
                        <a:cs typeface="Times New Roman" panose="02020603050405020304" pitchFamily="18" charset="0"/>
                      </a:endParaRPr>
                    </a:p>
                  </a:txBody>
                  <a:tcPr anchor="ctr"/>
                </a:tc>
                <a:tc>
                  <a:txBody>
                    <a:bodyPr/>
                    <a:lstStyle/>
                    <a:p>
                      <a:pPr algn="ct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In this paper, we used Neural Network technology to classify normal or abnormal behaviours.</a:t>
                      </a:r>
                      <a:endParaRPr lang="en-IN" sz="14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xmlns="" val="10002"/>
                  </a:ext>
                </a:extLst>
              </a:tr>
              <a:tr h="1314015">
                <a:tc>
                  <a:txBody>
                    <a:bodyPr/>
                    <a:lstStyle/>
                    <a:p>
                      <a:pPr algn="ctr"/>
                      <a:r>
                        <a:rPr lang="en-US" sz="1600" b="0" dirty="0">
                          <a:latin typeface="Times New Roman" panose="02020603050405020304" pitchFamily="18" charset="0"/>
                          <a:cs typeface="Times New Roman" panose="02020603050405020304" pitchFamily="18" charset="0"/>
                        </a:rPr>
                        <a:t>3</a:t>
                      </a:r>
                    </a:p>
                  </a:txBody>
                  <a:tcPr anchor="ctr"/>
                </a:tc>
                <a:tc>
                  <a:txBody>
                    <a:bodyPr/>
                    <a:lstStyle/>
                    <a:p>
                      <a:pPr algn="ctr"/>
                      <a:r>
                        <a:rPr lang="en-US" sz="1400" b="0" dirty="0" smtClean="0">
                          <a:latin typeface="Times New Roman" panose="02020603050405020304" pitchFamily="18" charset="0"/>
                          <a:cs typeface="Times New Roman" panose="02020603050405020304" pitchFamily="18" charset="0"/>
                        </a:rPr>
                        <a:t>Journal, 2015</a:t>
                      </a:r>
                      <a:endParaRPr lang="en-IN" sz="1400" b="0" dirty="0">
                        <a:latin typeface="Times New Roman" panose="02020603050405020304" pitchFamily="18" charset="0"/>
                        <a:cs typeface="Times New Roman" panose="02020603050405020304" pitchFamily="18" charset="0"/>
                      </a:endParaRPr>
                    </a:p>
                  </a:txBody>
                  <a:tcPr anchor="ctr"/>
                </a:tc>
                <a:tc>
                  <a:txBody>
                    <a:bodyPr/>
                    <a:lstStyle/>
                    <a:p>
                      <a:pPr algn="ctr"/>
                      <a:r>
                        <a:rPr lang="en-IN" sz="1400" b="0" kern="1200" dirty="0" err="1" smtClean="0">
                          <a:solidFill>
                            <a:schemeClr val="tx1"/>
                          </a:solidFill>
                          <a:effectLst/>
                          <a:latin typeface="Times New Roman" panose="02020603050405020304" pitchFamily="18" charset="0"/>
                          <a:ea typeface="+mn-ea"/>
                          <a:cs typeface="Times New Roman" panose="02020603050405020304" pitchFamily="18" charset="0"/>
                        </a:rPr>
                        <a:t>Jabez</a:t>
                      </a: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 J, </a:t>
                      </a:r>
                      <a:r>
                        <a:rPr lang="en-IN" sz="1400" b="0" kern="1200" dirty="0" err="1" smtClean="0">
                          <a:solidFill>
                            <a:schemeClr val="tx1"/>
                          </a:solidFill>
                          <a:effectLst/>
                          <a:latin typeface="Times New Roman" panose="02020603050405020304" pitchFamily="18" charset="0"/>
                          <a:ea typeface="+mn-ea"/>
                          <a:cs typeface="Times New Roman" panose="02020603050405020304" pitchFamily="18" charset="0"/>
                        </a:rPr>
                        <a:t>Muthukumar</a:t>
                      </a: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 B</a:t>
                      </a:r>
                      <a:endParaRPr lang="en-US" sz="1400" b="0" kern="1200" dirty="0">
                        <a:solidFill>
                          <a:schemeClr val="tx1"/>
                        </a:solidFill>
                        <a:effectLst/>
                        <a:latin typeface="Times New Roman" panose="02020603050405020304" pitchFamily="18" charset="0"/>
                        <a:ea typeface="+mn-ea"/>
                        <a:cs typeface="Times New Roman" panose="02020603050405020304" pitchFamily="18" charset="0"/>
                      </a:endParaRPr>
                    </a:p>
                  </a:txBody>
                  <a:tcPr anchor="ctr"/>
                </a:tc>
                <a:tc>
                  <a:txBody>
                    <a:bodyPr/>
                    <a:lstStyle/>
                    <a:p>
                      <a:pPr algn="ct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Intrusion detection system (IDS): anomaly detection using outlier detection approach</a:t>
                      </a:r>
                      <a:endParaRPr lang="en-US" sz="1400" b="0" kern="1200" dirty="0">
                        <a:solidFill>
                          <a:schemeClr val="tx1"/>
                        </a:solidFill>
                        <a:effectLst/>
                        <a:latin typeface="Times New Roman" panose="02020603050405020304" pitchFamily="18" charset="0"/>
                        <a:ea typeface="+mn-ea"/>
                        <a:cs typeface="Times New Roman" panose="02020603050405020304" pitchFamily="18" charset="0"/>
                      </a:endParaRPr>
                    </a:p>
                  </a:txBody>
                  <a:tcPr anchor="ctr"/>
                </a:tc>
                <a:tc>
                  <a:txBody>
                    <a:bodyPr/>
                    <a:lstStyle/>
                    <a:p>
                      <a:pPr algn="ct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This research work proposed a new approach called outlier detection where, the anomaly dataset is measured by the Neighbourhood Outlier Factor (NOF)</a:t>
                      </a:r>
                      <a:endParaRPr lang="en-US" sz="14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xmlns="" val="10003"/>
                  </a:ext>
                </a:extLst>
              </a:tr>
              <a:tr h="1265561">
                <a:tc>
                  <a:txBody>
                    <a:bodyPr/>
                    <a:lstStyle/>
                    <a:p>
                      <a:pPr algn="ctr"/>
                      <a:r>
                        <a:rPr lang="en-US" sz="1600" b="0" dirty="0">
                          <a:latin typeface="Times New Roman" panose="02020603050405020304" pitchFamily="18" charset="0"/>
                          <a:cs typeface="Times New Roman" panose="02020603050405020304" pitchFamily="18" charset="0"/>
                        </a:rPr>
                        <a:t>4</a:t>
                      </a:r>
                    </a:p>
                  </a:txBody>
                  <a:tcPr anchor="ctr"/>
                </a:tc>
                <a:tc>
                  <a:txBody>
                    <a:bodyPr/>
                    <a:lstStyle/>
                    <a:p>
                      <a:pPr algn="ctr"/>
                      <a:r>
                        <a:rPr lang="en-US" sz="1400" b="0" kern="1200" dirty="0" smtClean="0">
                          <a:solidFill>
                            <a:schemeClr val="tx1"/>
                          </a:solidFill>
                          <a:effectLst/>
                          <a:latin typeface="Times New Roman" panose="02020603050405020304" pitchFamily="18" charset="0"/>
                          <a:ea typeface="+mn-ea"/>
                          <a:cs typeface="Times New Roman" panose="02020603050405020304" pitchFamily="18" charset="0"/>
                        </a:rPr>
                        <a:t>ICDCN, 2009</a:t>
                      </a:r>
                      <a:endParaRPr lang="en-US" sz="1400" b="0" kern="1200" dirty="0">
                        <a:solidFill>
                          <a:schemeClr val="tx1"/>
                        </a:solidFill>
                        <a:effectLst/>
                        <a:latin typeface="Times New Roman" panose="02020603050405020304" pitchFamily="18" charset="0"/>
                        <a:ea typeface="+mn-ea"/>
                        <a:cs typeface="Times New Roman" panose="02020603050405020304" pitchFamily="18" charset="0"/>
                      </a:endParaRPr>
                    </a:p>
                  </a:txBody>
                  <a:tcPr anchor="ctr"/>
                </a:tc>
                <a:tc>
                  <a:txBody>
                    <a:bodyPr/>
                    <a:lstStyle/>
                    <a:p>
                      <a:pPr algn="ctr"/>
                      <a:r>
                        <a:rPr lang="en-IN" sz="1400" b="0" kern="1200" dirty="0" err="1" smtClean="0">
                          <a:solidFill>
                            <a:schemeClr val="tx1"/>
                          </a:solidFill>
                          <a:effectLst/>
                          <a:latin typeface="Times New Roman" panose="02020603050405020304" pitchFamily="18" charset="0"/>
                          <a:ea typeface="+mn-ea"/>
                          <a:cs typeface="Times New Roman" panose="02020603050405020304" pitchFamily="18" charset="0"/>
                        </a:rPr>
                        <a:t>Neelakantan</a:t>
                      </a: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 S, Rao S.</a:t>
                      </a:r>
                      <a:endParaRPr lang="pt-BR" sz="1400" b="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anchor="ctr"/>
                </a:tc>
                <a:tc>
                  <a:txBody>
                    <a:bodyPr/>
                    <a:lstStyle/>
                    <a:p>
                      <a:pPr algn="ct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A threat-aware anomaly-based intrusion-detection approach for obtaining network-</a:t>
                      </a:r>
                      <a:r>
                        <a:rPr lang="en-IN" sz="1400" b="0" kern="1200" dirty="0" err="1" smtClean="0">
                          <a:solidFill>
                            <a:schemeClr val="tx1"/>
                          </a:solidFill>
                          <a:effectLst/>
                          <a:latin typeface="Times New Roman" panose="02020603050405020304" pitchFamily="18" charset="0"/>
                          <a:ea typeface="+mn-ea"/>
                          <a:cs typeface="Times New Roman" panose="02020603050405020304" pitchFamily="18" charset="0"/>
                        </a:rPr>
                        <a:t>specifc</a:t>
                      </a: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 useful alarms</a:t>
                      </a:r>
                      <a:endParaRPr lang="en-US" sz="14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anchor="ctr"/>
                </a:tc>
                <a:tc>
                  <a:txBody>
                    <a:bodyPr/>
                    <a:lstStyle/>
                    <a:p>
                      <a:pPr algn="ct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In this paper, we present a Threat-Aware Anomaly-Based IDS model for obtaining network-specific useful alarms</a:t>
                      </a:r>
                      <a:endParaRPr lang="en-US" sz="14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xmlns="" val="10004"/>
                  </a:ext>
                </a:extLst>
              </a:tr>
            </a:tbl>
          </a:graphicData>
        </a:graphic>
      </p:graphicFrame>
      <p:pic>
        <p:nvPicPr>
          <p:cNvPr id="5" name="Picture 4"/>
          <p:cNvPicPr/>
          <p:nvPr/>
        </p:nvPicPr>
        <p:blipFill>
          <a:blip r:embed="rId2" cstate="print">
            <a:extLst>
              <a:ext uri="{28A0092B-C50C-407E-A947-70E740481C1C}">
                <a14:useLocalDpi xmlns:a14="http://schemas.microsoft.com/office/drawing/2010/main" val="0"/>
              </a:ext>
            </a:extLst>
          </a:blip>
          <a:stretch>
            <a:fillRect/>
          </a:stretch>
        </p:blipFill>
        <p:spPr>
          <a:xfrm>
            <a:off x="10495128" y="111878"/>
            <a:ext cx="1541699" cy="529567"/>
          </a:xfrm>
          <a:prstGeom prst="rect">
            <a:avLst/>
          </a:prstGeom>
        </p:spPr>
      </p:pic>
    </p:spTree>
    <p:extLst>
      <p:ext uri="{BB962C8B-B14F-4D97-AF65-F5344CB8AC3E}">
        <p14:creationId xmlns:p14="http://schemas.microsoft.com/office/powerpoint/2010/main" val="4635031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4748" y="282168"/>
            <a:ext cx="8911687" cy="670869"/>
          </a:xfrm>
        </p:spPr>
        <p:txBody>
          <a:bodyPr>
            <a:normAutofit/>
          </a:bodyPr>
          <a:lstStyle/>
          <a:p>
            <a:pPr algn="ctr"/>
            <a:r>
              <a:rPr lang="en-US" sz="2400" b="1" dirty="0">
                <a:latin typeface="Times New Roman" panose="02020603050405020304" pitchFamily="18" charset="0"/>
                <a:cs typeface="Times New Roman" panose="02020603050405020304" pitchFamily="18" charset="0"/>
              </a:rPr>
              <a:t>EXISTING </a:t>
            </a:r>
            <a:r>
              <a:rPr lang="en-US" sz="2400" b="1" dirty="0" smtClean="0">
                <a:latin typeface="Times New Roman" panose="02020603050405020304" pitchFamily="18" charset="0"/>
                <a:cs typeface="Times New Roman" panose="02020603050405020304" pitchFamily="18" charset="0"/>
              </a:rPr>
              <a:t>METHOD</a:t>
            </a:r>
            <a:endParaRPr lang="en-US" sz="2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376227" y="1264555"/>
            <a:ext cx="9889052" cy="5593445"/>
          </a:xfrm>
        </p:spPr>
        <p:txBody>
          <a:bodyPr>
            <a:normAutofit/>
          </a:bodyPr>
          <a:lstStyle/>
          <a:p>
            <a:pPr marL="0" indent="0" algn="just">
              <a:lnSpc>
                <a:spcPct val="150000"/>
              </a:lnSpc>
              <a:buNone/>
            </a:pPr>
            <a:r>
              <a:rPr lang="en-IN" sz="2000" dirty="0">
                <a:latin typeface="Times New Roman" panose="02020603050405020304" pitchFamily="18" charset="0"/>
                <a:cs typeface="Times New Roman" panose="02020603050405020304" pitchFamily="18" charset="0"/>
              </a:rPr>
              <a:t>The increasing growth of machine learning, computer techniques divided into traditional methods and machine learning methods. This section describes the related works of performance of Intrusion Detection</a:t>
            </a:r>
            <a:r>
              <a:rPr lang="en-IN" sz="2000" b="1"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systems and how machine learning methods are better than traditional methods. The existing method in this project have a certain flow is used for model development. SVM and ANN are used algorithms in existing system. But it requires large memory and result is not accurate</a:t>
            </a:r>
            <a:r>
              <a:rPr lang="en-IN" sz="2000"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marL="0" indent="0" algn="just">
              <a:lnSpc>
                <a:spcPct val="150000"/>
              </a:lnSpc>
              <a:spcAft>
                <a:spcPts val="800"/>
              </a:spcAft>
              <a:buNone/>
            </a:pPr>
            <a:r>
              <a:rPr lang="en-IN" sz="2000" b="1" dirty="0" smtClean="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DISADVANTAGES</a:t>
            </a:r>
            <a:endParaRPr lang="en-IN" sz="20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pPr>
            <a:r>
              <a:rPr lang="en-IN" sz="2000" dirty="0">
                <a:latin typeface="Times New Roman" panose="02020603050405020304" pitchFamily="18" charset="0"/>
                <a:cs typeface="Times New Roman" panose="02020603050405020304" pitchFamily="18" charset="0"/>
              </a:rPr>
              <a:t>Accuracy low</a:t>
            </a:r>
          </a:p>
          <a:p>
            <a:pPr algn="just">
              <a:lnSpc>
                <a:spcPct val="150000"/>
              </a:lnSpc>
            </a:pPr>
            <a:r>
              <a:rPr lang="en-IN" sz="2000" dirty="0">
                <a:latin typeface="Times New Roman" panose="02020603050405020304" pitchFamily="18" charset="0"/>
                <a:cs typeface="Times New Roman" panose="02020603050405020304" pitchFamily="18" charset="0"/>
              </a:rPr>
              <a:t>Requires more </a:t>
            </a:r>
            <a:r>
              <a:rPr lang="en-IN" sz="2000" dirty="0" smtClean="0">
                <a:latin typeface="Times New Roman" panose="02020603050405020304" pitchFamily="18" charset="0"/>
                <a:cs typeface="Times New Roman" panose="02020603050405020304" pitchFamily="18" charset="0"/>
              </a:rPr>
              <a:t>time</a:t>
            </a:r>
          </a:p>
          <a:p>
            <a:pPr algn="just">
              <a:lnSpc>
                <a:spcPct val="150000"/>
              </a:lnSpc>
            </a:pPr>
            <a:r>
              <a:rPr lang="en-IN" sz="2000" dirty="0">
                <a:latin typeface="Times New Roman" panose="02020603050405020304" pitchFamily="18" charset="0"/>
                <a:cs typeface="Times New Roman" panose="02020603050405020304" pitchFamily="18" charset="0"/>
              </a:rPr>
              <a:t>D</a:t>
            </a:r>
            <a:r>
              <a:rPr lang="en-IN" sz="2000" smtClean="0">
                <a:latin typeface="Times New Roman" panose="02020603050405020304" pitchFamily="18" charset="0"/>
                <a:cs typeface="Times New Roman" panose="02020603050405020304" pitchFamily="18" charset="0"/>
              </a:rPr>
              <a:t>ifficult </a:t>
            </a:r>
            <a:r>
              <a:rPr lang="en-IN" sz="2000" dirty="0">
                <a:latin typeface="Times New Roman" panose="02020603050405020304" pitchFamily="18" charset="0"/>
                <a:cs typeface="Times New Roman" panose="02020603050405020304" pitchFamily="18" charset="0"/>
              </a:rPr>
              <a:t>to handle </a:t>
            </a:r>
          </a:p>
        </p:txBody>
      </p:sp>
      <p:pic>
        <p:nvPicPr>
          <p:cNvPr id="8" name="Picture 7"/>
          <p:cNvPicPr/>
          <p:nvPr/>
        </p:nvPicPr>
        <p:blipFill>
          <a:blip r:embed="rId2" cstate="print">
            <a:extLst>
              <a:ext uri="{28A0092B-C50C-407E-A947-70E740481C1C}">
                <a14:useLocalDpi xmlns:a14="http://schemas.microsoft.com/office/drawing/2010/main" val="0"/>
              </a:ext>
            </a:extLst>
          </a:blip>
          <a:stretch>
            <a:fillRect/>
          </a:stretch>
        </p:blipFill>
        <p:spPr>
          <a:xfrm>
            <a:off x="10466435" y="71867"/>
            <a:ext cx="1597689" cy="555929"/>
          </a:xfrm>
          <a:prstGeom prst="rect">
            <a:avLst/>
          </a:prstGeom>
        </p:spPr>
      </p:pic>
    </p:spTree>
    <p:extLst>
      <p:ext uri="{BB962C8B-B14F-4D97-AF65-F5344CB8AC3E}">
        <p14:creationId xmlns:p14="http://schemas.microsoft.com/office/powerpoint/2010/main" val="29705296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691BA666-3D94-41B6-BDDB-B52A51EF2747}"/>
              </a:ext>
            </a:extLst>
          </p:cNvPr>
          <p:cNvSpPr>
            <a:spLocks noGrp="1"/>
          </p:cNvSpPr>
          <p:nvPr>
            <p:ph type="title"/>
          </p:nvPr>
        </p:nvSpPr>
        <p:spPr>
          <a:xfrm>
            <a:off x="1069890" y="-174990"/>
            <a:ext cx="8911687" cy="1280890"/>
          </a:xfrm>
        </p:spPr>
        <p:txBody>
          <a:bodyPr>
            <a:normAutofit/>
          </a:bodyPr>
          <a:lstStyle/>
          <a:p>
            <a:pPr algn="ctr"/>
            <a:r>
              <a:rPr lang="en-US" sz="2400" b="1" dirty="0">
                <a:latin typeface="Times New Roman" panose="02020603050405020304" pitchFamily="18" charset="0"/>
                <a:cs typeface="Times New Roman" panose="02020603050405020304" pitchFamily="18" charset="0"/>
              </a:rPr>
              <a:t>PROPOSED METHOD</a:t>
            </a:r>
            <a:r>
              <a:rPr lang="en-US" altLang="en-US" sz="2400" b="1" dirty="0">
                <a:latin typeface="Times New Roman" panose="02020603050405020304" pitchFamily="18" charset="0"/>
                <a:cs typeface="Times New Roman" panose="02020603050405020304" pitchFamily="18" charset="0"/>
              </a:rPr>
              <a:t/>
            </a:r>
            <a:br>
              <a:rPr lang="en-US" altLang="en-US" sz="2400" b="1" dirty="0">
                <a:latin typeface="Times New Roman" panose="02020603050405020304" pitchFamily="18" charset="0"/>
                <a:cs typeface="Times New Roman" panose="02020603050405020304" pitchFamily="18" charset="0"/>
              </a:rPr>
            </a:br>
            <a:endParaRPr lang="en-US"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8272F5E9-D371-48AC-9F12-9755D3AE1521}"/>
              </a:ext>
            </a:extLst>
          </p:cNvPr>
          <p:cNvSpPr>
            <a:spLocks noGrp="1"/>
          </p:cNvSpPr>
          <p:nvPr>
            <p:ph idx="1"/>
          </p:nvPr>
        </p:nvSpPr>
        <p:spPr>
          <a:xfrm>
            <a:off x="1069890" y="465455"/>
            <a:ext cx="9692309" cy="5870951"/>
          </a:xfrm>
        </p:spPr>
        <p:txBody>
          <a:bodyPr>
            <a:noAutofit/>
          </a:bodyPr>
          <a:lstStyle/>
          <a:p>
            <a:pPr marL="0" indent="0" algn="just">
              <a:lnSpc>
                <a:spcPct val="150000"/>
              </a:lnSpc>
              <a:buNone/>
            </a:pPr>
            <a:r>
              <a:rPr lang="en-IN" sz="2000" dirty="0">
                <a:latin typeface="Times New Roman" panose="02020603050405020304" pitchFamily="18" charset="0"/>
                <a:cs typeface="Times New Roman" panose="02020603050405020304" pitchFamily="18" charset="0"/>
              </a:rPr>
              <a:t>Much research has been done on studying performance analysis of intrusion detection of systems. In early days if have to check the system performance it’s a time taking process. We can detect the system performance by using Decision tree, KNN (K-Nearest Neighbour), </a:t>
            </a:r>
            <a:r>
              <a:rPr lang="en-IN" sz="2000" dirty="0" smtClean="0">
                <a:latin typeface="Times New Roman" panose="02020603050405020304" pitchFamily="18" charset="0"/>
                <a:cs typeface="Times New Roman" panose="02020603050405020304" pitchFamily="18" charset="0"/>
              </a:rPr>
              <a:t>LR </a:t>
            </a:r>
            <a:r>
              <a:rPr lang="en-IN" sz="2000" dirty="0">
                <a:latin typeface="Times New Roman" panose="02020603050405020304" pitchFamily="18" charset="0"/>
                <a:cs typeface="Times New Roman" panose="02020603050405020304" pitchFamily="18" charset="0"/>
              </a:rPr>
              <a:t>(Logistic Regression), Decision Tree, XGBoost. To get better accuracy we used Decision Tree algorithm. Bu using these machine learning techniques we can easily detect the system performance like weather the system is attacked or not</a:t>
            </a:r>
            <a:r>
              <a:rPr lang="en-IN"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marL="0" indent="0" algn="just">
              <a:lnSpc>
                <a:spcPct val="150000"/>
              </a:lnSpc>
              <a:spcAft>
                <a:spcPts val="800"/>
              </a:spcAft>
              <a:buNone/>
            </a:pPr>
            <a:r>
              <a:rPr lang="en-US" sz="2000" b="1" dirty="0" smtClean="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Advantages:</a:t>
            </a:r>
          </a:p>
          <a:p>
            <a:pPr>
              <a:lnSpc>
                <a:spcPct val="150000"/>
              </a:lnSpc>
            </a:pPr>
            <a:r>
              <a:rPr lang="en-IN" sz="2000" dirty="0">
                <a:latin typeface="Times New Roman" panose="02020603050405020304" pitchFamily="18" charset="0"/>
                <a:cs typeface="Times New Roman" panose="02020603050405020304" pitchFamily="18" charset="0"/>
              </a:rPr>
              <a:t>Requires less time </a:t>
            </a:r>
          </a:p>
          <a:p>
            <a:pPr>
              <a:lnSpc>
                <a:spcPct val="150000"/>
              </a:lnSpc>
            </a:pPr>
            <a:r>
              <a:rPr lang="en-IN" sz="2000" dirty="0" smtClean="0">
                <a:latin typeface="Times New Roman" panose="02020603050405020304" pitchFamily="18" charset="0"/>
                <a:cs typeface="Times New Roman" panose="02020603050405020304" pitchFamily="18" charset="0"/>
              </a:rPr>
              <a:t>Good </a:t>
            </a:r>
            <a:r>
              <a:rPr lang="en-IN" sz="2000" dirty="0">
                <a:latin typeface="Times New Roman" panose="02020603050405020304" pitchFamily="18" charset="0"/>
                <a:cs typeface="Times New Roman" panose="02020603050405020304" pitchFamily="18" charset="0"/>
              </a:rPr>
              <a:t>Accuracy</a:t>
            </a:r>
          </a:p>
          <a:p>
            <a:pPr>
              <a:lnSpc>
                <a:spcPct val="150000"/>
              </a:lnSpc>
            </a:pPr>
            <a:r>
              <a:rPr lang="en-IN" sz="2000" dirty="0" smtClean="0">
                <a:latin typeface="Times New Roman" panose="02020603050405020304" pitchFamily="18" charset="0"/>
                <a:cs typeface="Times New Roman" panose="02020603050405020304" pitchFamily="18" charset="0"/>
              </a:rPr>
              <a:t>Easy </a:t>
            </a:r>
            <a:r>
              <a:rPr lang="en-IN" sz="2000" dirty="0">
                <a:latin typeface="Times New Roman" panose="02020603050405020304" pitchFamily="18" charset="0"/>
                <a:cs typeface="Times New Roman" panose="02020603050405020304" pitchFamily="18" charset="0"/>
              </a:rPr>
              <a:t>to handle</a:t>
            </a:r>
          </a:p>
          <a:p>
            <a:pPr marL="0" indent="0" algn="just">
              <a:lnSpc>
                <a:spcPct val="150000"/>
              </a:lnSpc>
              <a:spcAft>
                <a:spcPts val="800"/>
              </a:spcAft>
              <a:buNone/>
            </a:pPr>
            <a:endParaRPr lang="en-IN" sz="2000" dirty="0" smtClean="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9" name="Picture 8"/>
          <p:cNvPicPr/>
          <p:nvPr/>
        </p:nvPicPr>
        <p:blipFill>
          <a:blip r:embed="rId2" cstate="print">
            <a:extLst>
              <a:ext uri="{28A0092B-C50C-407E-A947-70E740481C1C}">
                <a14:useLocalDpi xmlns:a14="http://schemas.microsoft.com/office/drawing/2010/main" val="0"/>
              </a:ext>
            </a:extLst>
          </a:blip>
          <a:stretch>
            <a:fillRect/>
          </a:stretch>
        </p:blipFill>
        <p:spPr>
          <a:xfrm>
            <a:off x="10791825" y="0"/>
            <a:ext cx="1400175" cy="465455"/>
          </a:xfrm>
          <a:prstGeom prst="rect">
            <a:avLst/>
          </a:prstGeom>
        </p:spPr>
      </p:pic>
    </p:spTree>
    <p:extLst>
      <p:ext uri="{BB962C8B-B14F-4D97-AF65-F5344CB8AC3E}">
        <p14:creationId xmlns:p14="http://schemas.microsoft.com/office/powerpoint/2010/main" val="2572984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5530" y="296563"/>
            <a:ext cx="8911687" cy="590542"/>
          </a:xfrm>
        </p:spPr>
        <p:txBody>
          <a:bodyPr>
            <a:normAutofit/>
          </a:bodyPr>
          <a:lstStyle/>
          <a:p>
            <a:pPr algn="ctr"/>
            <a:r>
              <a:rPr lang="en-US" sz="2400" b="1" dirty="0">
                <a:latin typeface="Times New Roman" panose="02020603050405020304" pitchFamily="18" charset="0"/>
                <a:cs typeface="Times New Roman" panose="02020603050405020304" pitchFamily="18" charset="0"/>
              </a:rPr>
              <a:t>BLOCK DIAGRAM</a:t>
            </a:r>
          </a:p>
        </p:txBody>
      </p:sp>
      <p:pic>
        <p:nvPicPr>
          <p:cNvPr id="5" name="Picture 4"/>
          <p:cNvPicPr/>
          <p:nvPr/>
        </p:nvPicPr>
        <p:blipFill>
          <a:blip r:embed="rId2"/>
          <a:stretch>
            <a:fillRect/>
          </a:stretch>
        </p:blipFill>
        <p:spPr>
          <a:xfrm>
            <a:off x="3230245" y="816610"/>
            <a:ext cx="5731510" cy="5224780"/>
          </a:xfrm>
          <a:prstGeom prst="rect">
            <a:avLst/>
          </a:prstGeom>
        </p:spPr>
      </p:pic>
    </p:spTree>
    <p:extLst>
      <p:ext uri="{BB962C8B-B14F-4D97-AF65-F5344CB8AC3E}">
        <p14:creationId xmlns:p14="http://schemas.microsoft.com/office/powerpoint/2010/main" val="7455908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6262" y="282916"/>
            <a:ext cx="8911687" cy="1280890"/>
          </a:xfrm>
        </p:spPr>
        <p:txBody>
          <a:bodyPr>
            <a:normAutofit/>
          </a:bodyPr>
          <a:lstStyle/>
          <a:p>
            <a:pPr algn="ctr"/>
            <a:r>
              <a:rPr lang="en-US" sz="2400" b="1" dirty="0">
                <a:latin typeface="Times New Roman" panose="02020603050405020304" pitchFamily="18" charset="0"/>
                <a:cs typeface="Times New Roman" panose="02020603050405020304" pitchFamily="18" charset="0"/>
              </a:rPr>
              <a:t>ARCHITECTURE</a:t>
            </a:r>
          </a:p>
        </p:txBody>
      </p:sp>
      <p:pic>
        <p:nvPicPr>
          <p:cNvPr id="7" name="Content Placeholder 6"/>
          <p:cNvPicPr>
            <a:picLocks noGrp="1" noChangeAspect="1"/>
          </p:cNvPicPr>
          <p:nvPr>
            <p:ph idx="1"/>
          </p:nvPr>
        </p:nvPicPr>
        <p:blipFill>
          <a:blip r:embed="rId2"/>
          <a:stretch>
            <a:fillRect/>
          </a:stretch>
        </p:blipFill>
        <p:spPr>
          <a:xfrm>
            <a:off x="2737331" y="2162698"/>
            <a:ext cx="4477375" cy="3877216"/>
          </a:xfrm>
          <a:prstGeom prst="rect">
            <a:avLst/>
          </a:prstGeom>
        </p:spPr>
      </p:pic>
    </p:spTree>
    <p:extLst>
      <p:ext uri="{BB962C8B-B14F-4D97-AF65-F5344CB8AC3E}">
        <p14:creationId xmlns:p14="http://schemas.microsoft.com/office/powerpoint/2010/main" val="30945640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6388" y="552459"/>
            <a:ext cx="8911687" cy="1280890"/>
          </a:xfrm>
        </p:spPr>
        <p:txBody>
          <a:bodyPr>
            <a:normAutofit/>
          </a:bodyPr>
          <a:lstStyle/>
          <a:p>
            <a:pPr algn="ctr"/>
            <a:r>
              <a:rPr lang="en-US" sz="2400" b="1" dirty="0">
                <a:latin typeface="Times New Roman" panose="02020603050405020304" pitchFamily="18" charset="0"/>
                <a:cs typeface="Times New Roman" panose="02020603050405020304" pitchFamily="18" charset="0"/>
              </a:rPr>
              <a:t>IMPLEMENTATION</a:t>
            </a:r>
            <a:endParaRPr lang="en-IN" sz="2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538334" y="1833349"/>
            <a:ext cx="8915400" cy="3777622"/>
          </a:xfrm>
        </p:spPr>
        <p:txBody>
          <a:bodyPr>
            <a:normAutofit fontScale="47500" lnSpcReduction="20000"/>
          </a:bodyPr>
          <a:lstStyle/>
          <a:p>
            <a:pPr marL="342900" marR="0" lvl="0" indent="-342900" algn="just">
              <a:lnSpc>
                <a:spcPct val="150000"/>
              </a:lnSpc>
              <a:spcBef>
                <a:spcPts val="0"/>
              </a:spcBef>
              <a:spcAft>
                <a:spcPts val="0"/>
              </a:spcAft>
              <a:buFont typeface="Symbol" panose="05050102010706020507" pitchFamily="18" charset="2"/>
              <a:buChar char=""/>
            </a:pPr>
            <a:r>
              <a:rPr lang="en-US" sz="3600" dirty="0">
                <a:latin typeface="Times New Roman" panose="02020603050405020304" pitchFamily="18" charset="0"/>
                <a:ea typeface="Calibri" panose="020F0502020204030204" pitchFamily="34" charset="0"/>
                <a:cs typeface="Times New Roman" panose="02020603050405020304" pitchFamily="18" charset="0"/>
              </a:rPr>
              <a:t>First we have taken the </a:t>
            </a:r>
            <a:r>
              <a:rPr lang="en-US" sz="3600" dirty="0" smtClean="0">
                <a:latin typeface="Times New Roman" panose="02020603050405020304" pitchFamily="18" charset="0"/>
                <a:ea typeface="Calibri" panose="020F0502020204030204" pitchFamily="34" charset="0"/>
                <a:cs typeface="Times New Roman" panose="02020603050405020304" pitchFamily="18" charset="0"/>
              </a:rPr>
              <a:t>UNSW_NB15 of </a:t>
            </a:r>
            <a:r>
              <a:rPr lang="en-US" sz="3600" dirty="0">
                <a:latin typeface="Times New Roman" panose="02020603050405020304" pitchFamily="18" charset="0"/>
                <a:ea typeface="Calibri" panose="020F0502020204030204" pitchFamily="34" charset="0"/>
                <a:cs typeface="Times New Roman" panose="02020603050405020304" pitchFamily="18" charset="0"/>
              </a:rPr>
              <a:t>CSV file.</a:t>
            </a:r>
          </a:p>
          <a:p>
            <a:pPr marL="342900" marR="0" lvl="0" indent="-342900" algn="just">
              <a:lnSpc>
                <a:spcPct val="150000"/>
              </a:lnSpc>
              <a:spcBef>
                <a:spcPts val="0"/>
              </a:spcBef>
              <a:spcAft>
                <a:spcPts val="0"/>
              </a:spcAft>
              <a:buFont typeface="Symbol" panose="05050102010706020507" pitchFamily="18" charset="2"/>
              <a:buChar char=""/>
            </a:pPr>
            <a:r>
              <a:rPr lang="en-US" sz="3600" dirty="0">
                <a:latin typeface="Times New Roman" panose="02020603050405020304" pitchFamily="18" charset="0"/>
                <a:ea typeface="Calibri" panose="020F0502020204030204" pitchFamily="34" charset="0"/>
                <a:cs typeface="Times New Roman" panose="02020603050405020304" pitchFamily="18" charset="0"/>
              </a:rPr>
              <a:t>Load the dataset into work environment and made a check for null values if any.</a:t>
            </a:r>
          </a:p>
          <a:p>
            <a:pPr marL="342900" marR="0" lvl="0" indent="-342900" algn="just">
              <a:lnSpc>
                <a:spcPct val="150000"/>
              </a:lnSpc>
              <a:spcBef>
                <a:spcPts val="0"/>
              </a:spcBef>
              <a:spcAft>
                <a:spcPts val="0"/>
              </a:spcAft>
              <a:buFont typeface="Symbol" panose="05050102010706020507" pitchFamily="18" charset="2"/>
              <a:buChar char=""/>
            </a:pPr>
            <a:r>
              <a:rPr lang="en-US" sz="3600" dirty="0">
                <a:latin typeface="Times New Roman" panose="02020603050405020304" pitchFamily="18" charset="0"/>
                <a:ea typeface="Calibri" panose="020F0502020204030204" pitchFamily="34" charset="0"/>
                <a:cs typeface="Times New Roman" panose="02020603050405020304" pitchFamily="18" charset="0"/>
              </a:rPr>
              <a:t>After checking the null values split the data in to train data and test data.</a:t>
            </a:r>
          </a:p>
          <a:p>
            <a:pPr marL="342900" marR="0" lvl="0" indent="-342900" algn="just">
              <a:lnSpc>
                <a:spcPct val="150000"/>
              </a:lnSpc>
              <a:spcBef>
                <a:spcPts val="0"/>
              </a:spcBef>
              <a:spcAft>
                <a:spcPts val="0"/>
              </a:spcAft>
              <a:buFont typeface="Symbol" panose="05050102010706020507" pitchFamily="18" charset="2"/>
              <a:buChar char=""/>
            </a:pPr>
            <a:r>
              <a:rPr lang="en-US" sz="3600" dirty="0">
                <a:latin typeface="Times New Roman" panose="02020603050405020304" pitchFamily="18" charset="0"/>
                <a:ea typeface="Calibri" panose="020F0502020204030204" pitchFamily="34" charset="0"/>
                <a:cs typeface="Times New Roman" panose="02020603050405020304" pitchFamily="18" charset="0"/>
              </a:rPr>
              <a:t>After splitting apply the algorithm and fit the train data and test data.</a:t>
            </a:r>
          </a:p>
          <a:p>
            <a:pPr marL="342900" marR="0" lvl="0" indent="-342900" algn="just">
              <a:lnSpc>
                <a:spcPct val="150000"/>
              </a:lnSpc>
              <a:spcBef>
                <a:spcPts val="0"/>
              </a:spcBef>
              <a:spcAft>
                <a:spcPts val="0"/>
              </a:spcAft>
              <a:buFont typeface="Symbol" panose="05050102010706020507" pitchFamily="18" charset="2"/>
              <a:buChar char=""/>
            </a:pPr>
            <a:r>
              <a:rPr lang="en-US" sz="3600" dirty="0">
                <a:latin typeface="Times New Roman" panose="02020603050405020304" pitchFamily="18" charset="0"/>
                <a:ea typeface="Calibri" panose="020F0502020204030204" pitchFamily="34" charset="0"/>
                <a:cs typeface="Times New Roman" panose="02020603050405020304" pitchFamily="18" charset="0"/>
              </a:rPr>
              <a:t>We got the best accuracy score </a:t>
            </a:r>
            <a:r>
              <a:rPr lang="en-US" sz="3600" dirty="0" smtClean="0">
                <a:latin typeface="Times New Roman" panose="02020603050405020304" pitchFamily="18" charset="0"/>
                <a:ea typeface="Calibri" panose="020F0502020204030204" pitchFamily="34" charset="0"/>
                <a:cs typeface="Times New Roman" panose="02020603050405020304" pitchFamily="18" charset="0"/>
              </a:rPr>
              <a:t>of</a:t>
            </a:r>
            <a:r>
              <a:rPr lang="en-IN" sz="3600" dirty="0" smtClean="0">
                <a:latin typeface="Times New Roman" panose="02020603050405020304" pitchFamily="18" charset="0"/>
                <a:cs typeface="Times New Roman" panose="02020603050405020304" pitchFamily="18" charset="0"/>
              </a:rPr>
              <a:t> </a:t>
            </a:r>
            <a:r>
              <a:rPr lang="en-IN" sz="3600" dirty="0">
                <a:latin typeface="Times New Roman" panose="02020603050405020304" pitchFamily="18" charset="0"/>
                <a:cs typeface="Times New Roman" panose="02020603050405020304" pitchFamily="18" charset="0"/>
              </a:rPr>
              <a:t>Decision Tree</a:t>
            </a:r>
            <a:r>
              <a:rPr lang="en-US" sz="3600" dirty="0" smtClean="0">
                <a:latin typeface="Times New Roman" panose="02020603050405020304" pitchFamily="18" charset="0"/>
                <a:ea typeface="Calibri" panose="020F0502020204030204" pitchFamily="34" charset="0"/>
                <a:cs typeface="Times New Roman" panose="02020603050405020304" pitchFamily="18" charset="0"/>
              </a:rPr>
              <a:t>.</a:t>
            </a:r>
            <a:endParaRPr lang="en-US" sz="36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Symbol" panose="05050102010706020507" pitchFamily="18" charset="2"/>
              <a:buChar char=""/>
            </a:pPr>
            <a:r>
              <a:rPr lang="en-US" sz="3600" dirty="0">
                <a:latin typeface="Times New Roman" panose="02020603050405020304" pitchFamily="18" charset="0"/>
                <a:ea typeface="Calibri" panose="020F0502020204030204" pitchFamily="34" charset="0"/>
                <a:cs typeface="Times New Roman" panose="02020603050405020304" pitchFamily="18" charset="0"/>
              </a:rPr>
              <a:t>Later, the entire work is done with flask framework</a:t>
            </a:r>
          </a:p>
          <a:p>
            <a:pPr marL="342900" marR="0" lvl="0" indent="-342900" algn="just">
              <a:lnSpc>
                <a:spcPct val="150000"/>
              </a:lnSpc>
              <a:spcBef>
                <a:spcPts val="0"/>
              </a:spcBef>
              <a:spcAft>
                <a:spcPts val="0"/>
              </a:spcAft>
              <a:buFont typeface="Symbol" panose="05050102010706020507" pitchFamily="18" charset="2"/>
              <a:buChar char=""/>
            </a:pPr>
            <a:r>
              <a:rPr lang="en-US" sz="3600" dirty="0">
                <a:latin typeface="Times New Roman" panose="02020603050405020304" pitchFamily="18" charset="0"/>
                <a:ea typeface="Calibri" panose="020F0502020204030204" pitchFamily="34" charset="0"/>
                <a:cs typeface="Times New Roman" panose="02020603050405020304" pitchFamily="18" charset="0"/>
              </a:rPr>
              <a:t>User can view the </a:t>
            </a:r>
            <a:r>
              <a:rPr lang="en-US" sz="3600" dirty="0" smtClean="0">
                <a:latin typeface="Times New Roman" panose="02020603050405020304" pitchFamily="18" charset="0"/>
                <a:ea typeface="Calibri" panose="020F0502020204030204" pitchFamily="34" charset="0"/>
                <a:cs typeface="Times New Roman" panose="02020603050405020304" pitchFamily="18" charset="0"/>
              </a:rPr>
              <a:t>Home</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smtClean="0">
                <a:latin typeface="Times New Roman" panose="02020603050405020304" pitchFamily="18" charset="0"/>
                <a:ea typeface="Calibri" panose="020F0502020204030204" pitchFamily="34" charset="0"/>
                <a:cs typeface="Times New Roman" panose="02020603050405020304" pitchFamily="18" charset="0"/>
              </a:rPr>
              <a:t>About</a:t>
            </a:r>
            <a:r>
              <a:rPr lang="en-US" sz="3600" dirty="0">
                <a:latin typeface="Times New Roman" panose="02020603050405020304" pitchFamily="18" charset="0"/>
                <a:ea typeface="Calibri" panose="020F0502020204030204" pitchFamily="34" charset="0"/>
                <a:cs typeface="Times New Roman" panose="02020603050405020304" pitchFamily="18" charset="0"/>
              </a:rPr>
              <a:t>, Login, R</a:t>
            </a:r>
            <a:r>
              <a:rPr lang="en-US" sz="3600" dirty="0" smtClean="0">
                <a:latin typeface="Times New Roman" panose="02020603050405020304" pitchFamily="18" charset="0"/>
                <a:ea typeface="Calibri" panose="020F0502020204030204" pitchFamily="34" charset="0"/>
                <a:cs typeface="Times New Roman" panose="02020603050405020304" pitchFamily="18" charset="0"/>
              </a:rPr>
              <a:t>egistration, User home page, Upload page, View page, Preprocessing, Model training, Prediction and Graph.</a:t>
            </a:r>
            <a:endParaRPr lang="en-US" sz="36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800"/>
              </a:spcAft>
              <a:buFont typeface="Symbol" panose="05050102010706020507" pitchFamily="18" charset="2"/>
              <a:buChar char=""/>
            </a:pPr>
            <a:r>
              <a:rPr lang="en-US" sz="3600" dirty="0">
                <a:latin typeface="Times New Roman" panose="02020603050405020304" pitchFamily="18" charset="0"/>
                <a:ea typeface="Calibri" panose="020F0502020204030204" pitchFamily="34" charset="0"/>
                <a:cs typeface="Times New Roman" panose="02020603050405020304" pitchFamily="18" charset="0"/>
              </a:rPr>
              <a:t>After detection, we will get to know that whether the Performance Analysis of Intrusion Detection Systems </a:t>
            </a:r>
            <a:r>
              <a:rPr lang="en-US" sz="3600" dirty="0" smtClean="0">
                <a:latin typeface="Times New Roman" panose="02020603050405020304" pitchFamily="18" charset="0"/>
                <a:ea typeface="Calibri" panose="020F0502020204030204" pitchFamily="34" charset="0"/>
                <a:cs typeface="Times New Roman" panose="02020603050405020304" pitchFamily="18" charset="0"/>
              </a:rPr>
              <a:t>is Attacked are Not.</a:t>
            </a:r>
            <a:endParaRPr lang="en-US" sz="3600" dirty="0">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IN" sz="3600" dirty="0"/>
          </a:p>
        </p:txBody>
      </p:sp>
      <p:pic>
        <p:nvPicPr>
          <p:cNvPr id="4" name="Picture 3"/>
          <p:cNvPicPr/>
          <p:nvPr/>
        </p:nvPicPr>
        <p:blipFill>
          <a:blip r:embed="rId2" cstate="print">
            <a:extLst>
              <a:ext uri="{28A0092B-C50C-407E-A947-70E740481C1C}">
                <a14:useLocalDpi xmlns:a14="http://schemas.microsoft.com/office/drawing/2010/main" val="0"/>
              </a:ext>
            </a:extLst>
          </a:blip>
          <a:stretch>
            <a:fillRect/>
          </a:stretch>
        </p:blipFill>
        <p:spPr>
          <a:xfrm>
            <a:off x="10791825" y="0"/>
            <a:ext cx="1400175" cy="465455"/>
          </a:xfrm>
          <a:prstGeom prst="rect">
            <a:avLst/>
          </a:prstGeom>
        </p:spPr>
      </p:pic>
    </p:spTree>
    <p:extLst>
      <p:ext uri="{BB962C8B-B14F-4D97-AF65-F5344CB8AC3E}">
        <p14:creationId xmlns:p14="http://schemas.microsoft.com/office/powerpoint/2010/main" val="29221097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640156" y="449827"/>
            <a:ext cx="8911687" cy="895201"/>
          </a:xfrm>
        </p:spPr>
        <p:txBody>
          <a:bodyPr>
            <a:normAutofit/>
          </a:bodyPr>
          <a:lstStyle/>
          <a:p>
            <a:pPr algn="ctr"/>
            <a:r>
              <a:rPr lang="en-US" sz="2400" b="1" dirty="0">
                <a:latin typeface="Times New Roman" panose="02020603050405020304" pitchFamily="18" charset="0"/>
                <a:cs typeface="Times New Roman" panose="02020603050405020304" pitchFamily="18" charset="0"/>
              </a:rPr>
              <a:t>HARDWARE &amp; SOFTWARE REQUIREMENTS</a:t>
            </a:r>
            <a:r>
              <a:rPr lang="en-US" altLang="en-US" sz="2400" b="1" dirty="0">
                <a:latin typeface="Times New Roman" panose="02020603050405020304" pitchFamily="18" charset="0"/>
                <a:cs typeface="Times New Roman" panose="02020603050405020304" pitchFamily="18" charset="0"/>
              </a:rPr>
              <a:t/>
            </a:r>
            <a:br>
              <a:rPr lang="en-US" altLang="en-US" sz="2400" b="1" dirty="0">
                <a:latin typeface="Times New Roman" panose="02020603050405020304" pitchFamily="18" charset="0"/>
                <a:cs typeface="Times New Roman" panose="02020603050405020304" pitchFamily="18" charset="0"/>
              </a:rPr>
            </a:br>
            <a:endParaRPr lang="en-US" sz="2400" b="1" dirty="0">
              <a:latin typeface="Times New Roman" panose="02020603050405020304" pitchFamily="18" charset="0"/>
              <a:cs typeface="Times New Roman" panose="02020603050405020304" pitchFamily="18" charset="0"/>
            </a:endParaRPr>
          </a:p>
        </p:txBody>
      </p:sp>
      <p:sp>
        <p:nvSpPr>
          <p:cNvPr id="5" name="Content Placeholder 2"/>
          <p:cNvSpPr>
            <a:spLocks noGrp="1"/>
          </p:cNvSpPr>
          <p:nvPr>
            <p:ph idx="1"/>
          </p:nvPr>
        </p:nvSpPr>
        <p:spPr>
          <a:xfrm>
            <a:off x="1038289" y="1438819"/>
            <a:ext cx="4656406" cy="1922568"/>
          </a:xfrm>
        </p:spPr>
        <p:txBody>
          <a:bodyPr>
            <a:normAutofit/>
          </a:bodyPr>
          <a:lstStyle/>
          <a:p>
            <a:pPr marL="0" indent="0" algn="just">
              <a:lnSpc>
                <a:spcPct val="150000"/>
              </a:lnSpc>
              <a:spcBef>
                <a:spcPts val="0"/>
              </a:spcBef>
              <a:buNone/>
            </a:pPr>
            <a:r>
              <a:rPr lang="en-US" sz="20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H/W Configuration:</a:t>
            </a:r>
          </a:p>
          <a:p>
            <a:pPr marL="0" indent="0" algn="just">
              <a:lnSpc>
                <a:spcPct val="150000"/>
              </a:lnSpc>
              <a:spcBef>
                <a:spcPts val="0"/>
              </a:spcBef>
              <a:buNone/>
            </a:pPr>
            <a:r>
              <a:rPr lang="en-US" sz="20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Processor    - I3/Intel Processor</a:t>
            </a:r>
          </a:p>
          <a:p>
            <a:pPr marL="0" indent="0" algn="just">
              <a:lnSpc>
                <a:spcPct val="150000"/>
              </a:lnSpc>
              <a:spcBef>
                <a:spcPts val="0"/>
              </a:spcBef>
              <a:buNone/>
            </a:pPr>
            <a:r>
              <a:rPr lang="en-US" sz="20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Hard Disk   -160GB</a:t>
            </a:r>
          </a:p>
          <a:p>
            <a:pPr marL="0" indent="0" algn="just">
              <a:lnSpc>
                <a:spcPct val="150000"/>
              </a:lnSpc>
              <a:spcBef>
                <a:spcPts val="0"/>
              </a:spcBef>
              <a:buNone/>
            </a:pPr>
            <a:r>
              <a:rPr lang="en-US" sz="20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RAM	   -  8Gb</a:t>
            </a:r>
          </a:p>
        </p:txBody>
      </p:sp>
      <p:sp>
        <p:nvSpPr>
          <p:cNvPr id="6" name="TextBox 5">
            <a:extLst>
              <a:ext uri="{FF2B5EF4-FFF2-40B4-BE49-F238E27FC236}">
                <a16:creationId xmlns:a16="http://schemas.microsoft.com/office/drawing/2014/main" xmlns="" id="{7C70DF6A-B090-4103-9F76-70F2E53A2FCD}"/>
              </a:ext>
            </a:extLst>
          </p:cNvPr>
          <p:cNvSpPr txBox="1"/>
          <p:nvPr/>
        </p:nvSpPr>
        <p:spPr>
          <a:xfrm>
            <a:off x="1038289" y="3554834"/>
            <a:ext cx="10385271" cy="2400657"/>
          </a:xfrm>
          <a:prstGeom prst="rect">
            <a:avLst/>
          </a:prstGeom>
          <a:noFill/>
        </p:spPr>
        <p:txBody>
          <a:bodyPr wrap="square">
            <a:spAutoFit/>
          </a:bodyPr>
          <a:lstStyle/>
          <a:p>
            <a:pPr algn="just">
              <a:lnSpc>
                <a:spcPct val="150000"/>
              </a:lnSpc>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S/W Configuration:</a:t>
            </a:r>
          </a:p>
          <a:p>
            <a:pPr algn="just">
              <a:lnSpc>
                <a:spcPct val="150000"/>
              </a:lnSpc>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	Operating System       :   Windows 7/8/10	.	</a:t>
            </a:r>
          </a:p>
          <a:p>
            <a:pPr algn="just">
              <a:lnSpc>
                <a:spcPct val="150000"/>
              </a:lnSpc>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	IDE	           </a:t>
            </a:r>
            <a:r>
              <a:rPr lang="en-US" sz="2000" dirty="0" smtClean="0">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   Pycharm.</a:t>
            </a:r>
          </a:p>
          <a:p>
            <a:pPr algn="just">
              <a:lnSpc>
                <a:spcPct val="150000"/>
              </a:lnSpc>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	Libraries Used            :    Numpy, Pandas, OS, Pillow, MySQL. </a:t>
            </a:r>
          </a:p>
          <a:p>
            <a:pPr algn="just">
              <a:lnSpc>
                <a:spcPct val="150000"/>
              </a:lnSpc>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	Technology                 :    Python 3.6+.</a:t>
            </a:r>
          </a:p>
        </p:txBody>
      </p:sp>
      <p:pic>
        <p:nvPicPr>
          <p:cNvPr id="9" name="Picture 8"/>
          <p:cNvPicPr/>
          <p:nvPr/>
        </p:nvPicPr>
        <p:blipFill>
          <a:blip r:embed="rId2" cstate="print">
            <a:extLst>
              <a:ext uri="{28A0092B-C50C-407E-A947-70E740481C1C}">
                <a14:useLocalDpi xmlns:a14="http://schemas.microsoft.com/office/drawing/2010/main" val="0"/>
              </a:ext>
            </a:extLst>
          </a:blip>
          <a:stretch>
            <a:fillRect/>
          </a:stretch>
        </p:blipFill>
        <p:spPr>
          <a:xfrm>
            <a:off x="10804524" y="0"/>
            <a:ext cx="1400175" cy="465455"/>
          </a:xfrm>
          <a:prstGeom prst="rect">
            <a:avLst/>
          </a:prstGeom>
        </p:spPr>
      </p:pic>
    </p:spTree>
    <p:extLst>
      <p:ext uri="{BB962C8B-B14F-4D97-AF65-F5344CB8AC3E}">
        <p14:creationId xmlns:p14="http://schemas.microsoft.com/office/powerpoint/2010/main" val="22742817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9142" y="146184"/>
            <a:ext cx="10515600" cy="665185"/>
          </a:xfrm>
        </p:spPr>
        <p:txBody>
          <a:bodyPr>
            <a:normAutofit/>
          </a:bodyPr>
          <a:lstStyle/>
          <a:p>
            <a:pPr algn="ctr"/>
            <a:r>
              <a:rPr lang="en-IN" sz="2800" b="1" dirty="0" smtClean="0">
                <a:latin typeface="Times New Roman" panose="02020603050405020304" pitchFamily="18" charset="0"/>
                <a:cs typeface="Times New Roman" panose="02020603050405020304" pitchFamily="18" charset="0"/>
              </a:rPr>
              <a:t>MODULES</a:t>
            </a:r>
            <a:endParaRPr lang="en-IN" sz="2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199" y="914400"/>
            <a:ext cx="10997485" cy="5396248"/>
          </a:xfrm>
        </p:spPr>
        <p:txBody>
          <a:bodyPr>
            <a:noAutofit/>
          </a:bodyPr>
          <a:lstStyle/>
          <a:p>
            <a:pPr marL="0" indent="0">
              <a:lnSpc>
                <a:spcPct val="160000"/>
              </a:lnSpc>
              <a:buNone/>
            </a:pPr>
            <a:r>
              <a:rPr lang="en-IN" sz="2000" b="1" dirty="0" smtClean="0">
                <a:latin typeface="Times New Roman" panose="02020603050405020304" pitchFamily="18" charset="0"/>
                <a:cs typeface="Times New Roman" panose="02020603050405020304" pitchFamily="18" charset="0"/>
              </a:rPr>
              <a:t>1</a:t>
            </a:r>
            <a:r>
              <a:rPr lang="en-IN" sz="2000" b="1" dirty="0">
                <a:latin typeface="Times New Roman" panose="02020603050405020304" pitchFamily="18" charset="0"/>
                <a:cs typeface="Times New Roman" panose="02020603050405020304" pitchFamily="18" charset="0"/>
              </a:rPr>
              <a:t>. System:</a:t>
            </a:r>
            <a:endParaRPr lang="en-IN" sz="2000" dirty="0">
              <a:latin typeface="Times New Roman" panose="02020603050405020304" pitchFamily="18" charset="0"/>
              <a:cs typeface="Times New Roman" panose="02020603050405020304" pitchFamily="18" charset="0"/>
            </a:endParaRPr>
          </a:p>
          <a:p>
            <a:pPr marL="0" indent="0">
              <a:lnSpc>
                <a:spcPct val="160000"/>
              </a:lnSpc>
              <a:buNone/>
            </a:pPr>
            <a:r>
              <a:rPr lang="en-IN" sz="2000" b="1" dirty="0">
                <a:latin typeface="Times New Roman" panose="02020603050405020304" pitchFamily="18" charset="0"/>
                <a:cs typeface="Times New Roman" panose="02020603050405020304" pitchFamily="18" charset="0"/>
              </a:rPr>
              <a:t>1.1 Store Dataset:</a:t>
            </a:r>
            <a:endParaRPr lang="en-IN" sz="2000" dirty="0">
              <a:latin typeface="Times New Roman" panose="02020603050405020304" pitchFamily="18" charset="0"/>
              <a:cs typeface="Times New Roman" panose="02020603050405020304" pitchFamily="18" charset="0"/>
            </a:endParaRPr>
          </a:p>
          <a:p>
            <a:pPr marL="0" indent="0">
              <a:lnSpc>
                <a:spcPct val="160000"/>
              </a:lnSpc>
              <a:buNone/>
            </a:pPr>
            <a:r>
              <a:rPr lang="en-IN" sz="2000" dirty="0" smtClean="0">
                <a:latin typeface="Times New Roman" panose="02020603050405020304" pitchFamily="18" charset="0"/>
                <a:cs typeface="Times New Roman" panose="02020603050405020304" pitchFamily="18" charset="0"/>
              </a:rPr>
              <a:t>	The </a:t>
            </a:r>
            <a:r>
              <a:rPr lang="en-IN" sz="2000" dirty="0">
                <a:latin typeface="Times New Roman" panose="02020603050405020304" pitchFamily="18" charset="0"/>
                <a:cs typeface="Times New Roman" panose="02020603050405020304" pitchFamily="18" charset="0"/>
              </a:rPr>
              <a:t>System stores the dataset given by the user.</a:t>
            </a:r>
          </a:p>
          <a:p>
            <a:pPr marL="0" indent="0">
              <a:lnSpc>
                <a:spcPct val="160000"/>
              </a:lnSpc>
              <a:buNone/>
            </a:pPr>
            <a:r>
              <a:rPr lang="en-IN" sz="2000" b="1" dirty="0">
                <a:latin typeface="Times New Roman" panose="02020603050405020304" pitchFamily="18" charset="0"/>
                <a:cs typeface="Times New Roman" panose="02020603050405020304" pitchFamily="18" charset="0"/>
              </a:rPr>
              <a:t>1.2 Model Training:</a:t>
            </a:r>
            <a:endParaRPr lang="en-IN" sz="2000" dirty="0">
              <a:latin typeface="Times New Roman" panose="02020603050405020304" pitchFamily="18" charset="0"/>
              <a:cs typeface="Times New Roman" panose="02020603050405020304" pitchFamily="18" charset="0"/>
            </a:endParaRPr>
          </a:p>
          <a:p>
            <a:pPr marL="0" indent="0">
              <a:lnSpc>
                <a:spcPct val="160000"/>
              </a:lnSpc>
              <a:buNone/>
            </a:pPr>
            <a:r>
              <a:rPr lang="en-IN" sz="2000" dirty="0" smtClean="0">
                <a:latin typeface="Times New Roman" panose="02020603050405020304" pitchFamily="18" charset="0"/>
                <a:cs typeface="Times New Roman" panose="02020603050405020304" pitchFamily="18" charset="0"/>
              </a:rPr>
              <a:t>	The </a:t>
            </a:r>
            <a:r>
              <a:rPr lang="en-IN" sz="2000" dirty="0">
                <a:latin typeface="Times New Roman" panose="02020603050405020304" pitchFamily="18" charset="0"/>
                <a:cs typeface="Times New Roman" panose="02020603050405020304" pitchFamily="18" charset="0"/>
              </a:rPr>
              <a:t>system takes the data from the user and fed that data to the selected model.</a:t>
            </a:r>
          </a:p>
          <a:p>
            <a:pPr marL="0" indent="0">
              <a:lnSpc>
                <a:spcPct val="160000"/>
              </a:lnSpc>
              <a:buNone/>
            </a:pPr>
            <a:r>
              <a:rPr lang="en-IN" sz="2000" b="1" dirty="0">
                <a:latin typeface="Times New Roman" panose="02020603050405020304" pitchFamily="18" charset="0"/>
                <a:cs typeface="Times New Roman" panose="02020603050405020304" pitchFamily="18" charset="0"/>
              </a:rPr>
              <a:t>1.3 Model Predictions:</a:t>
            </a:r>
            <a:endParaRPr lang="en-IN" sz="2000" dirty="0">
              <a:latin typeface="Times New Roman" panose="02020603050405020304" pitchFamily="18" charset="0"/>
              <a:cs typeface="Times New Roman" panose="02020603050405020304" pitchFamily="18" charset="0"/>
            </a:endParaRPr>
          </a:p>
          <a:p>
            <a:pPr marL="0" indent="0">
              <a:lnSpc>
                <a:spcPct val="160000"/>
              </a:lnSpc>
              <a:buNone/>
            </a:pPr>
            <a:r>
              <a:rPr lang="en-IN" sz="2000" dirty="0" smtClean="0">
                <a:latin typeface="Times New Roman" panose="02020603050405020304" pitchFamily="18" charset="0"/>
                <a:cs typeface="Times New Roman" panose="02020603050405020304" pitchFamily="18" charset="0"/>
              </a:rPr>
              <a:t>	The </a:t>
            </a:r>
            <a:r>
              <a:rPr lang="en-IN" sz="2000" dirty="0">
                <a:latin typeface="Times New Roman" panose="02020603050405020304" pitchFamily="18" charset="0"/>
                <a:cs typeface="Times New Roman" panose="02020603050405020304" pitchFamily="18" charset="0"/>
              </a:rPr>
              <a:t>system takes the data given by the user and predict the output based on the given data.</a:t>
            </a:r>
          </a:p>
          <a:p>
            <a:pPr marL="0" indent="0">
              <a:lnSpc>
                <a:spcPct val="160000"/>
              </a:lnSpc>
              <a:buNone/>
            </a:pPr>
            <a:r>
              <a:rPr lang="en-IN" sz="2000" b="1" dirty="0">
                <a:latin typeface="Times New Roman" panose="02020603050405020304" pitchFamily="18" charset="0"/>
                <a:cs typeface="Times New Roman" panose="02020603050405020304" pitchFamily="18" charset="0"/>
              </a:rPr>
              <a:t>1.4 Data Splitting:</a:t>
            </a:r>
            <a:endParaRPr lang="en-IN" sz="2000" dirty="0">
              <a:latin typeface="Times New Roman" panose="02020603050405020304" pitchFamily="18" charset="0"/>
              <a:cs typeface="Times New Roman" panose="02020603050405020304" pitchFamily="18" charset="0"/>
            </a:endParaRPr>
          </a:p>
          <a:p>
            <a:pPr marL="0" indent="0">
              <a:lnSpc>
                <a:spcPct val="160000"/>
              </a:lnSpc>
              <a:buNone/>
            </a:pPr>
            <a:r>
              <a:rPr lang="en-IN" sz="2000" b="1"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Here the system can split the data into two parts for training and testing.</a:t>
            </a:r>
          </a:p>
          <a:p>
            <a:pPr marL="0" indent="0">
              <a:lnSpc>
                <a:spcPct val="160000"/>
              </a:lnSpc>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49810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757880" y="628611"/>
            <a:ext cx="10256109" cy="512448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0" numCol="1" anchor="ctr" anchorCtr="0" compatLnSpc="1">
            <a:prstTxWarp prst="textNoShape">
              <a:avLst/>
            </a:prstTxWarp>
            <a:spAutoFit/>
          </a:bodyPr>
          <a:lstStyle>
            <a:lvl1pPr indent="4572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457200" algn="just" defTabSz="914400" rtl="0" eaLnBrk="0" fontAlgn="base" latinLnBrk="0" hangingPunct="0">
              <a:lnSpc>
                <a:spcPct val="15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 User:</a:t>
            </a:r>
          </a:p>
          <a:p>
            <a:pPr lvl="0" algn="just">
              <a:lnSpc>
                <a:spcPct val="150000"/>
              </a:lnSpc>
            </a:pPr>
            <a:r>
              <a:rPr lang="en-US" sz="2000" b="1" dirty="0" smtClean="0">
                <a:latin typeface="Times New Roman" panose="02020603050405020304" pitchFamily="18" charset="0"/>
                <a:cs typeface="Times New Roman" panose="02020603050405020304" pitchFamily="18" charset="0"/>
              </a:rPr>
              <a:t>2.1</a:t>
            </a:r>
            <a:r>
              <a:rPr lang="en-US" sz="2000" b="1" dirty="0">
                <a:latin typeface="Times New Roman" panose="02020603050405020304" pitchFamily="18" charset="0"/>
                <a:cs typeface="Times New Roman" panose="02020603050405020304" pitchFamily="18" charset="0"/>
              </a:rPr>
              <a:t>	Register:</a:t>
            </a:r>
          </a:p>
          <a:p>
            <a:pPr lvl="0" algn="just">
              <a:lnSpc>
                <a:spcPct val="150000"/>
              </a:lnSpc>
            </a:pPr>
            <a:r>
              <a:rPr lang="en-US" sz="2000" dirty="0">
                <a:latin typeface="Times New Roman" panose="02020603050405020304" pitchFamily="18" charset="0"/>
                <a:cs typeface="Times New Roman" panose="02020603050405020304" pitchFamily="18" charset="0"/>
              </a:rPr>
              <a:t>Users can register for the Performance Analysis of Intrusion Detection Systems Using a Feature Selection </a:t>
            </a:r>
            <a:r>
              <a:rPr lang="en-US" sz="2000" dirty="0" smtClean="0">
                <a:latin typeface="Times New Roman" panose="02020603050405020304" pitchFamily="18" charset="0"/>
                <a:cs typeface="Times New Roman" panose="02020603050405020304" pitchFamily="18" charset="0"/>
              </a:rPr>
              <a:t>Method application here.</a:t>
            </a:r>
          </a:p>
          <a:p>
            <a:pPr lvl="0" algn="just">
              <a:lnSpc>
                <a:spcPct val="150000"/>
              </a:lnSpc>
            </a:pPr>
            <a:r>
              <a:rPr lang="en-US" sz="2000" b="1" dirty="0" smtClean="0">
                <a:latin typeface="Times New Roman" panose="02020603050405020304" pitchFamily="18" charset="0"/>
                <a:cs typeface="Times New Roman" panose="02020603050405020304" pitchFamily="18" charset="0"/>
              </a:rPr>
              <a:t>2.2</a:t>
            </a:r>
            <a:r>
              <a:rPr lang="en-US" sz="2000" b="1" dirty="0">
                <a:latin typeface="Times New Roman" panose="02020603050405020304" pitchFamily="18" charset="0"/>
                <a:cs typeface="Times New Roman" panose="02020603050405020304" pitchFamily="18" charset="0"/>
              </a:rPr>
              <a:t>	Login:</a:t>
            </a:r>
          </a:p>
          <a:p>
            <a:pPr lvl="0" algn="just">
              <a:lnSpc>
                <a:spcPct val="150000"/>
              </a:lnSpc>
            </a:pPr>
            <a:r>
              <a:rPr lang="en-US" sz="2000" dirty="0">
                <a:latin typeface="Times New Roman" panose="02020603050405020304" pitchFamily="18" charset="0"/>
                <a:cs typeface="Times New Roman" panose="02020603050405020304" pitchFamily="18" charset="0"/>
              </a:rPr>
              <a:t>After registering, the user can access his portal.</a:t>
            </a:r>
          </a:p>
          <a:p>
            <a:pPr marL="0" marR="0" lvl="0" indent="457200" algn="just" defTabSz="914400" rtl="0" eaLnBrk="0" fontAlgn="base" latinLnBrk="0" hangingPunct="0">
              <a:lnSpc>
                <a:spcPct val="150000"/>
              </a:lnSpc>
              <a:spcBef>
                <a:spcPct val="0"/>
              </a:spcBef>
              <a:spcAft>
                <a:spcPct val="0"/>
              </a:spcAft>
              <a:buClrTx/>
              <a:buSzTx/>
              <a:buFontTx/>
              <a:buNone/>
              <a:tabLst/>
            </a:pP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457200" algn="just" defTabSz="914400" rtl="0" eaLnBrk="0" fontAlgn="base" latinLnBrk="0" hangingPunct="0">
              <a:lnSpc>
                <a:spcPct val="15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2.3 Load Dataset:</a:t>
            </a: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457200" algn="just" defTabSz="914400" rtl="0" eaLnBrk="0" fontAlgn="base" latinLnBrk="0" hangingPunct="0">
              <a:lnSpc>
                <a:spcPct val="15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The user can upload the dataset he/she want to work on.</a:t>
            </a: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457200" algn="just" defTabSz="914400" rtl="0" eaLnBrk="0" fontAlgn="base" latinLnBrk="0" hangingPunct="0">
              <a:lnSpc>
                <a:spcPct val="15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2.4 View Dataset:</a:t>
            </a: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457200" algn="just" defTabSz="914400" rtl="0" eaLnBrk="0" fontAlgn="base" latinLnBrk="0" hangingPunct="0">
              <a:lnSpc>
                <a:spcPct val="15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The User can view the dataset.</a:t>
            </a: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74138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55588" y="1058986"/>
            <a:ext cx="8180173" cy="1754326"/>
          </a:xfrm>
          <a:prstGeom prst="rect">
            <a:avLst/>
          </a:prstGeom>
        </p:spPr>
        <p:txBody>
          <a:bodyPr wrap="square">
            <a:spAutoFit/>
          </a:bodyPr>
          <a:lstStyle/>
          <a:p>
            <a:pPr lvl="0" indent="457200" algn="just" eaLnBrk="0" fontAlgn="base" hangingPunct="0">
              <a:lnSpc>
                <a:spcPct val="150000"/>
              </a:lnSpc>
              <a:spcBef>
                <a:spcPct val="0"/>
              </a:spcBef>
              <a:spcAft>
                <a:spcPct val="0"/>
              </a:spcAft>
            </a:pPr>
            <a:r>
              <a:rPr lang="en-US" b="1" dirty="0">
                <a:latin typeface="Times New Roman" panose="02020603050405020304" pitchFamily="18" charset="0"/>
                <a:ea typeface="Calibri" panose="020F0502020204030204" pitchFamily="34" charset="0"/>
                <a:cs typeface="Times New Roman" panose="02020603050405020304" pitchFamily="18" charset="0"/>
              </a:rPr>
              <a:t>2.5 Select model:</a:t>
            </a:r>
            <a:endParaRPr lang="en-US" dirty="0">
              <a:latin typeface="Times New Roman" panose="02020603050405020304" pitchFamily="18" charset="0"/>
              <a:cs typeface="Times New Roman" panose="02020603050405020304" pitchFamily="18" charset="0"/>
            </a:endParaRPr>
          </a:p>
          <a:p>
            <a:pPr lvl="0" indent="457200" algn="just" eaLnBrk="0" fontAlgn="base" hangingPunct="0">
              <a:lnSpc>
                <a:spcPct val="150000"/>
              </a:lnSpc>
              <a:spcBef>
                <a:spcPct val="0"/>
              </a:spcBef>
              <a:spcAft>
                <a:spcPct val="0"/>
              </a:spcAft>
            </a:pPr>
            <a:r>
              <a:rPr lang="en-US" dirty="0">
                <a:latin typeface="Times New Roman" panose="02020603050405020304" pitchFamily="18" charset="0"/>
                <a:ea typeface="Calibri" panose="020F0502020204030204" pitchFamily="34" charset="0"/>
                <a:cs typeface="Times New Roman" panose="02020603050405020304" pitchFamily="18" charset="0"/>
              </a:rPr>
              <a:t>	User can apply the model to the dataset for accuracy.</a:t>
            </a:r>
            <a:endParaRPr lang="en-US" dirty="0">
              <a:latin typeface="Times New Roman" panose="02020603050405020304" pitchFamily="18" charset="0"/>
              <a:cs typeface="Times New Roman" panose="02020603050405020304" pitchFamily="18" charset="0"/>
            </a:endParaRPr>
          </a:p>
          <a:p>
            <a:pPr lvl="0" indent="457200" algn="just" eaLnBrk="0" fontAlgn="base" hangingPunct="0">
              <a:lnSpc>
                <a:spcPct val="150000"/>
              </a:lnSpc>
              <a:spcBef>
                <a:spcPct val="0"/>
              </a:spcBef>
              <a:spcAft>
                <a:spcPct val="0"/>
              </a:spcAft>
            </a:pPr>
            <a:r>
              <a:rPr lang="en-US" b="1" dirty="0">
                <a:latin typeface="Times New Roman" panose="02020603050405020304" pitchFamily="18" charset="0"/>
                <a:ea typeface="Calibri" panose="020F0502020204030204" pitchFamily="34" charset="0"/>
                <a:cs typeface="Times New Roman" panose="02020603050405020304" pitchFamily="18" charset="0"/>
              </a:rPr>
              <a:t>2.6 View results:</a:t>
            </a:r>
            <a:endParaRPr lang="en-US" dirty="0">
              <a:latin typeface="Times New Roman" panose="02020603050405020304" pitchFamily="18" charset="0"/>
              <a:ea typeface="Times New Roman" panose="02020603050405020304" pitchFamily="18" charset="0"/>
              <a:cs typeface="Times New Roman" panose="02020603050405020304" pitchFamily="18" charset="0"/>
            </a:endParaRPr>
          </a:p>
          <a:p>
            <a:pPr lvl="0" indent="457200" algn="just" eaLnBrk="0" fontAlgn="base" hangingPunct="0">
              <a:lnSpc>
                <a:spcPct val="150000"/>
              </a:lnSpc>
              <a:spcBef>
                <a:spcPct val="0"/>
              </a:spcBef>
              <a:spcAft>
                <a:spcPct val="0"/>
              </a:spcAft>
            </a:pPr>
            <a:r>
              <a:rPr lang="en-US" dirty="0">
                <a:latin typeface="Times New Roman" panose="02020603050405020304" pitchFamily="18" charset="0"/>
                <a:ea typeface="Times New Roman" panose="02020603050405020304" pitchFamily="18" charset="0"/>
                <a:cs typeface="Times New Roman" panose="02020603050405020304" pitchFamily="18" charset="0"/>
              </a:rPr>
              <a:t>	User can view the predicted results weather the system is attacked or not</a:t>
            </a:r>
            <a:r>
              <a:rPr lang="en-US"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8782409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000" b="1" dirty="0" smtClean="0">
                <a:latin typeface="Times New Roman" panose="02020603050405020304" pitchFamily="18" charset="0"/>
                <a:cs typeface="Times New Roman" panose="02020603050405020304" pitchFamily="18" charset="0"/>
              </a:rPr>
              <a:t>Algorithms</a:t>
            </a:r>
            <a:endParaRPr lang="en-IN" sz="3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519707"/>
            <a:ext cx="10515600" cy="4657256"/>
          </a:xfrm>
        </p:spPr>
        <p:txBody>
          <a:bodyPr>
            <a:normAutofit/>
          </a:bodyPr>
          <a:lstStyle/>
          <a:p>
            <a:pPr marL="0" indent="0" algn="just">
              <a:lnSpc>
                <a:spcPct val="150000"/>
              </a:lnSpc>
              <a:buNone/>
            </a:pPr>
            <a:r>
              <a:rPr lang="en-US" sz="2000" b="1" dirty="0" smtClean="0">
                <a:latin typeface="Times New Roman" panose="02020603050405020304" pitchFamily="18" charset="0"/>
                <a:cs typeface="Times New Roman" panose="02020603050405020304" pitchFamily="18" charset="0"/>
              </a:rPr>
              <a:t>Decision Tree:</a:t>
            </a:r>
          </a:p>
          <a:p>
            <a:pPr marL="0" indent="0" algn="just">
              <a:lnSpc>
                <a:spcPct val="150000"/>
              </a:lnSpc>
              <a:buNone/>
            </a:pPr>
            <a:r>
              <a:rPr lang="en-IN" sz="2000" dirty="0">
                <a:latin typeface="Times New Roman" panose="02020603050405020304" pitchFamily="18" charset="0"/>
                <a:cs typeface="Times New Roman" panose="02020603050405020304" pitchFamily="18" charset="0"/>
              </a:rPr>
              <a:t>Decision tree learning is a supervised machine learning technique for inducing a decision tree from training data. A decision tree (also referred to as a classification tree or a reduction tree) is a predictive model which is a mapping from observations about an item to conclusions about its target </a:t>
            </a:r>
            <a:r>
              <a:rPr lang="en-IN" sz="2000" dirty="0" smtClean="0">
                <a:latin typeface="Times New Roman" panose="02020603050405020304" pitchFamily="18" charset="0"/>
                <a:cs typeface="Times New Roman" panose="02020603050405020304" pitchFamily="18" charset="0"/>
              </a:rPr>
              <a:t>value.</a:t>
            </a:r>
          </a:p>
          <a:p>
            <a:pPr marL="0" indent="0" algn="just">
              <a:lnSpc>
                <a:spcPct val="150000"/>
              </a:lnSpc>
              <a:buNone/>
            </a:pPr>
            <a:r>
              <a:rPr lang="en-IN" sz="2000" dirty="0">
                <a:latin typeface="Times New Roman" panose="02020603050405020304" pitchFamily="18" charset="0"/>
                <a:cs typeface="Times New Roman" panose="02020603050405020304" pitchFamily="18" charset="0"/>
              </a:rPr>
              <a:t>The goal of using a Decision Tree is to create a training model that can use to predict the class or value of the target variable by learning simple decision rules inferred from prior data (training data). In Decision Trees, for predicting a class label for a record we start from the root of the tree</a:t>
            </a:r>
          </a:p>
        </p:txBody>
      </p:sp>
    </p:spTree>
    <p:extLst>
      <p:ext uri="{BB962C8B-B14F-4D97-AF65-F5344CB8AC3E}">
        <p14:creationId xmlns:p14="http://schemas.microsoft.com/office/powerpoint/2010/main" val="14532813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2680" y="97914"/>
            <a:ext cx="10693759" cy="6337632"/>
          </a:xfrm>
          <a:prstGeom prst="rect">
            <a:avLst/>
          </a:prstGeom>
        </p:spPr>
        <p:txBody>
          <a:bodyPr wrap="square">
            <a:spAutoFit/>
          </a:bodyPr>
          <a:lstStyle/>
          <a:p>
            <a:pPr>
              <a:lnSpc>
                <a:spcPct val="150000"/>
              </a:lnSpc>
              <a:spcAft>
                <a:spcPts val="800"/>
              </a:spcAft>
            </a:pPr>
            <a:r>
              <a:rPr lang="en-IN" sz="2000" b="1" dirty="0" smtClean="0">
                <a:effectLst/>
                <a:latin typeface="Times New Roman" panose="02020603050405020304" pitchFamily="18" charset="0"/>
                <a:ea typeface="Calibri" panose="020F0502020204030204" pitchFamily="34" charset="0"/>
                <a:cs typeface="Times New Roman" panose="02020603050405020304" pitchFamily="18" charset="0"/>
              </a:rPr>
              <a:t>K-Nearest Neighbour:</a:t>
            </a:r>
            <a:endParaRPr lang="en-IN"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Bef>
                <a:spcPts val="300"/>
              </a:spcBef>
              <a:spcAft>
                <a:spcPts val="800"/>
              </a:spcAft>
              <a:buSzPts val="1000"/>
              <a:buFont typeface="Courier New" panose="02070309020205020404" pitchFamily="49" charset="0"/>
              <a:buChar char="o"/>
              <a:tabLst>
                <a:tab pos="228600" algn="l"/>
              </a:tabLst>
            </a:pPr>
            <a:r>
              <a:rPr lang="en-IN" sz="20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K-Nearest Neighbour is one of the simplest Machine Learning algorithms based on Supervised Learning technique.</a:t>
            </a:r>
            <a:endParaRPr lang="en-IN"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Bef>
                <a:spcPts val="300"/>
              </a:spcBef>
              <a:spcAft>
                <a:spcPts val="800"/>
              </a:spcAft>
              <a:buSzPts val="1000"/>
              <a:buFont typeface="Courier New" panose="02070309020205020404" pitchFamily="49" charset="0"/>
              <a:buChar char="o"/>
              <a:tabLst>
                <a:tab pos="228600" algn="l"/>
              </a:tabLst>
            </a:pPr>
            <a:r>
              <a:rPr lang="en-IN" sz="20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K-NN algorithm assumes the similarity between the new case/data and available cases and put the new case into the category that is most similar to the available categories.</a:t>
            </a:r>
            <a:endParaRPr lang="en-IN"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Bef>
                <a:spcPts val="300"/>
              </a:spcBef>
              <a:spcAft>
                <a:spcPts val="800"/>
              </a:spcAft>
              <a:buSzPts val="1000"/>
              <a:buFont typeface="Courier New" panose="02070309020205020404" pitchFamily="49" charset="0"/>
              <a:buChar char="o"/>
              <a:tabLst>
                <a:tab pos="228600" algn="l"/>
              </a:tabLst>
            </a:pPr>
            <a:r>
              <a:rPr lang="en-IN" sz="20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K-NN algorithm stores all the available data and classifies a new data point based on the similarity. This means when new data appears then it can be easily classified into a well suite category by using K- NN algorithm.</a:t>
            </a:r>
            <a:endParaRPr lang="en-IN"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Bef>
                <a:spcPts val="300"/>
              </a:spcBef>
              <a:spcAft>
                <a:spcPts val="800"/>
              </a:spcAft>
              <a:buSzPts val="1000"/>
              <a:buFont typeface="Courier New" panose="02070309020205020404" pitchFamily="49" charset="0"/>
              <a:buChar char="o"/>
              <a:tabLst>
                <a:tab pos="228600" algn="l"/>
              </a:tabLst>
            </a:pPr>
            <a:r>
              <a:rPr lang="en-IN" sz="20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K-NN algorithm can be used for Regression as well as for Classification but mostly it is used for the Classification problems.</a:t>
            </a:r>
            <a:endParaRPr lang="en-IN"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Bef>
                <a:spcPts val="300"/>
              </a:spcBef>
              <a:spcAft>
                <a:spcPts val="800"/>
              </a:spcAft>
              <a:buSzPts val="1000"/>
              <a:buFont typeface="Courier New" panose="02070309020205020404" pitchFamily="49" charset="0"/>
              <a:buChar char="o"/>
              <a:tabLst>
                <a:tab pos="228600" algn="l"/>
              </a:tabLst>
            </a:pPr>
            <a:r>
              <a:rPr lang="en-IN" sz="20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K-NN is a </a:t>
            </a:r>
            <a:r>
              <a:rPr lang="en-IN" sz="2000" b="1"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non-parametric algorithm</a:t>
            </a:r>
            <a:r>
              <a:rPr lang="en-IN" sz="20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which means it does not make any assumption on underlying data.</a:t>
            </a:r>
            <a:endParaRPr lang="en-IN"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762379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31322" y="579550"/>
            <a:ext cx="9959663" cy="4991110"/>
          </a:xfrm>
          <a:prstGeom prst="rect">
            <a:avLst/>
          </a:prstGeom>
        </p:spPr>
        <p:txBody>
          <a:bodyPr wrap="square">
            <a:spAutoFit/>
          </a:bodyPr>
          <a:lstStyle/>
          <a:p>
            <a:pPr marL="342900" lvl="0" indent="-342900" algn="just">
              <a:lnSpc>
                <a:spcPct val="150000"/>
              </a:lnSpc>
              <a:spcBef>
                <a:spcPts val="300"/>
              </a:spcBef>
              <a:spcAft>
                <a:spcPts val="800"/>
              </a:spcAft>
              <a:buSzPts val="1000"/>
              <a:buFont typeface="Courier New" panose="02070309020205020404" pitchFamily="49" charset="0"/>
              <a:buChar char="o"/>
              <a:tabLst>
                <a:tab pos="228600" algn="l"/>
              </a:tabLst>
            </a:pPr>
            <a:r>
              <a:rPr lang="en-IN" sz="20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It is also called a </a:t>
            </a:r>
            <a:r>
              <a:rPr lang="en-IN" sz="2000" b="1"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lazy learner algorithm</a:t>
            </a:r>
            <a:r>
              <a:rPr lang="en-IN" sz="20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because it does not learn from the training set immediately instead it stores the dataset and at the time of classification, it performs an action on the dataset.</a:t>
            </a:r>
            <a:endParaRPr lang="en-IN"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Bef>
                <a:spcPts val="300"/>
              </a:spcBef>
              <a:spcAft>
                <a:spcPts val="800"/>
              </a:spcAft>
              <a:buSzPts val="1000"/>
              <a:buFont typeface="Courier New" panose="02070309020205020404" pitchFamily="49" charset="0"/>
              <a:buChar char="o"/>
              <a:tabLst>
                <a:tab pos="228600" algn="l"/>
              </a:tabLst>
            </a:pPr>
            <a:r>
              <a:rPr lang="en-IN" sz="20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KNN algorithm at the training phase just stores the dataset and when it gets new data, then it classifies that data into a category that is much similar to the new data.</a:t>
            </a:r>
            <a:endParaRPr lang="en-IN"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Bef>
                <a:spcPts val="300"/>
              </a:spcBef>
              <a:spcAft>
                <a:spcPts val="800"/>
              </a:spcAft>
              <a:buSzPts val="1000"/>
              <a:buFont typeface="Courier New" panose="02070309020205020404" pitchFamily="49" charset="0"/>
              <a:buChar char="o"/>
              <a:tabLst>
                <a:tab pos="228600" algn="l"/>
              </a:tabLst>
            </a:pPr>
            <a:r>
              <a:rPr lang="en-IN" sz="2000" b="1"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Example:</a:t>
            </a:r>
            <a:r>
              <a:rPr lang="en-IN" sz="20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Suppose, we have an image of a creature that looks similar to cat and dog, but we want to know either it is a cat or dog. So for this identification, we can use the KNN algorithm, as it works on a similarity measure. Our KNN model will find the similar features of the new data set to the cats and dogs images and based on the most similar features it will put it in either cat or dog category.</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845345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0230" y="0"/>
            <a:ext cx="11030856" cy="6606937"/>
          </a:xfrm>
          <a:prstGeom prst="rect">
            <a:avLst/>
          </a:prstGeom>
        </p:spPr>
        <p:txBody>
          <a:bodyPr wrap="square">
            <a:spAutoFit/>
          </a:bodyPr>
          <a:lstStyle/>
          <a:p>
            <a:pPr algn="just">
              <a:lnSpc>
                <a:spcPct val="150000"/>
              </a:lnSpc>
              <a:spcAft>
                <a:spcPts val="800"/>
              </a:spcAft>
            </a:pPr>
            <a:r>
              <a:rPr lang="en-IN" sz="2000" b="1"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LOGISTIC REGRESSION:</a:t>
            </a:r>
            <a:endParaRPr lang="en-IN"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Logistic Regression was used in the biological sciences in early twentieth century. It was then used in many social science applications. Logistic Regression is used when the dependent variable (target) is categorical. For example,</a:t>
            </a:r>
            <a:endParaRPr lang="en-IN"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To predict whether an email is spam (1) or (0)</a:t>
            </a:r>
            <a:endParaRPr lang="en-IN"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Whether the tumor is malignant (1) or not (0)</a:t>
            </a:r>
            <a:endParaRPr lang="en-IN"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Consider a scenario where we need to classify whether an email is spam or not. If we use linear regression for this problem, there is a need for setting up a threshold based on which classification can be done. Say if the actual class is malignant, predicted continuous value 0.4 and the threshold value is 0.5, the data point will be classified as not malignant which can lead to serious consequence in real time.</a:t>
            </a:r>
            <a:endParaRPr lang="en-IN"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From this example, it can be inferred that linear regression is not suitable for classification problem. Linear regression is unbounded, and this brings logistic regression into picture. Their value strictly ranges from 0 to 1.</a:t>
            </a:r>
            <a:endParaRPr lang="en-IN"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719188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73427" y="395417"/>
            <a:ext cx="8954530" cy="5493812"/>
          </a:xfrm>
          <a:prstGeom prst="rect">
            <a:avLst/>
          </a:prstGeom>
        </p:spPr>
        <p:txBody>
          <a:bodyPr wrap="square">
            <a:spAutoFit/>
          </a:bodyPr>
          <a:lstStyle/>
          <a:p>
            <a:pPr>
              <a:lnSpc>
                <a:spcPct val="150000"/>
              </a:lnSpc>
              <a:tabLst>
                <a:tab pos="1733550" algn="l"/>
              </a:tabLst>
            </a:pPr>
            <a:r>
              <a:rPr lang="en-IN" b="1" dirty="0">
                <a:latin typeface="Times New Roman" panose="02020603050405020304" pitchFamily="18" charset="0"/>
                <a:ea typeface="Times New Roman" panose="02020603050405020304" pitchFamily="18" charset="0"/>
                <a:cs typeface="Times New Roman" panose="02020603050405020304" pitchFamily="18" charset="0"/>
              </a:rPr>
              <a:t>Neural Networks:</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tabLst>
                <a:tab pos="1733550" algn="l"/>
              </a:tabLst>
            </a:pPr>
            <a:r>
              <a:rPr lang="en-IN" dirty="0">
                <a:latin typeface="Times New Roman" panose="02020603050405020304" pitchFamily="18" charset="0"/>
                <a:ea typeface="Times New Roman" panose="02020603050405020304" pitchFamily="18" charset="0"/>
                <a:cs typeface="Times New Roman" panose="02020603050405020304" pitchFamily="18" charset="0"/>
              </a:rPr>
              <a:t>An artificial neural network (ANN) is the piece of a computing system designed to simulate the way the human brain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analyzes</a:t>
            </a:r>
            <a:r>
              <a:rPr lang="en-IN" dirty="0">
                <a:latin typeface="Times New Roman" panose="02020603050405020304" pitchFamily="18" charset="0"/>
                <a:ea typeface="Times New Roman" panose="02020603050405020304" pitchFamily="18" charset="0"/>
                <a:cs typeface="Times New Roman" panose="02020603050405020304" pitchFamily="18" charset="0"/>
              </a:rPr>
              <a:t> and processes information. It is the foundation of artificial intelligence (AI) and solves problems that would prove impossible or difficult by human or statistical standards. ANNs have self-learning capabilities that enable them to produce better results as more data becomes available.</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tabLst>
                <a:tab pos="1733550" algn="l"/>
              </a:tabLst>
            </a:pPr>
            <a:r>
              <a:rPr lang="en-IN" dirty="0">
                <a:latin typeface="Times New Roman" panose="02020603050405020304" pitchFamily="18" charset="0"/>
                <a:ea typeface="Times New Roman" panose="02020603050405020304" pitchFamily="18" charset="0"/>
                <a:cs typeface="Times New Roman" panose="02020603050405020304" pitchFamily="18" charset="0"/>
              </a:rPr>
              <a:t>An ANN has hundreds or thousands of artificial neurons called processing units, which are interconnected by nodes. These processing units are made up of input and output units. The input units receive various forms and structures of information based on an internal weighting system, and the neural network attempts to learn about the information presented to produce one output report. Just like humans need rules and guidelines to come up with a result or output, ANNs also use a set of learning rules called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backpropagation</a:t>
            </a:r>
            <a:r>
              <a:rPr lang="en-IN" dirty="0">
                <a:latin typeface="Times New Roman" panose="02020603050405020304" pitchFamily="18" charset="0"/>
                <a:ea typeface="Times New Roman" panose="02020603050405020304" pitchFamily="18" charset="0"/>
                <a:cs typeface="Times New Roman" panose="02020603050405020304" pitchFamily="18" charset="0"/>
              </a:rPr>
              <a:t>, an abbreviation for backward propagation of error, to perfect their output results.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41474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2422" y="96562"/>
            <a:ext cx="11697730" cy="6222216"/>
          </a:xfrm>
          <a:prstGeom prst="rect">
            <a:avLst/>
          </a:prstGeom>
        </p:spPr>
        <p:txBody>
          <a:bodyPr wrap="square">
            <a:spAutoFit/>
          </a:bodyPr>
          <a:lstStyle/>
          <a:p>
            <a:pPr algn="just">
              <a:lnSpc>
                <a:spcPts val="2250"/>
              </a:lnSpc>
              <a:spcAft>
                <a:spcPts val="1575"/>
              </a:spcAft>
            </a:pPr>
            <a:r>
              <a:rPr lang="en-IN" sz="2400" b="1" u="sng" spc="2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XGBoost</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ts val="2250"/>
              </a:lnSpc>
              <a:spcAft>
                <a:spcPts val="1575"/>
              </a:spcAft>
            </a:pPr>
            <a:r>
              <a:rPr lang="en-IN" spc="2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XGBoost stands for “Extreme Gradient Boosting”. XGBoost is an optimized distributed gradient boosting library designed to be highly efficient, flexible and portable. It implements Machine Learning algorithms under the Gradient Boosting framework. It provides a parallel tree boosting to solve many data science problems in a fast and accurate way. </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ts val="2850"/>
              </a:lnSpc>
              <a:spcBef>
                <a:spcPts val="2250"/>
              </a:spcBef>
              <a:spcAft>
                <a:spcPts val="1500"/>
              </a:spcAft>
            </a:pPr>
            <a:r>
              <a:rPr lang="en-IN" b="1" spc="20" dirty="0">
                <a:solidFill>
                  <a:srgbClr val="111111"/>
                </a:solidFill>
                <a:latin typeface="Times New Roman" panose="02020603050405020304" pitchFamily="18" charset="0"/>
                <a:ea typeface="Times New Roman" panose="02020603050405020304" pitchFamily="18" charset="0"/>
                <a:cs typeface="Times New Roman" panose="02020603050405020304" pitchFamily="18" charset="0"/>
              </a:rPr>
              <a:t>Boosting </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ts val="2250"/>
              </a:lnSpc>
              <a:spcAft>
                <a:spcPts val="1575"/>
              </a:spcAft>
            </a:pPr>
            <a:r>
              <a:rPr lang="en-IN" spc="2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Boosting is an ensemble learning technique to build a strong classifier from several weak classifiers in series. Boosting algorithms play a crucial role in dealing with Bias-variance </a:t>
            </a:r>
            <a:r>
              <a:rPr lang="en-IN" spc="2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trade-off</a:t>
            </a:r>
            <a:r>
              <a:rPr lang="en-US" sz="1600" dirty="0" smtClean="0">
                <a:latin typeface="Calibri" panose="020F0502020204030204" pitchFamily="34" charset="0"/>
                <a:ea typeface="Times New Roman" panose="02020603050405020304" pitchFamily="18" charset="0"/>
                <a:cs typeface="Times New Roman" panose="02020603050405020304" pitchFamily="18" charset="0"/>
              </a:rPr>
              <a:t>.</a:t>
            </a:r>
            <a:r>
              <a:rPr lang="en-IN" spc="20" dirty="0" smtClean="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spc="2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Unlike bagging algorithms, which only controls for high variance in a model, boosting controls both the aspects (bias &amp; variance) and is considered to be more effective</a:t>
            </a:r>
            <a:r>
              <a:rPr lang="en-IN" spc="2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Below </a:t>
            </a:r>
            <a:r>
              <a:rPr lang="en-IN" spc="2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are the few types of boosting algorithms:</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ts val="2250"/>
              </a:lnSpc>
              <a:spcBef>
                <a:spcPts val="0"/>
              </a:spcBef>
              <a:spcAft>
                <a:spcPts val="1575"/>
              </a:spcAft>
              <a:buFont typeface="Wingdings" panose="05000000000000000000" pitchFamily="2" charset="2"/>
              <a:buChar char=""/>
            </a:pPr>
            <a:r>
              <a:rPr lang="en-IN" spc="2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AdaBoost (Adaptive Boosting</a:t>
            </a:r>
            <a:r>
              <a:rPr lang="en-IN" spc="2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ts val="2250"/>
              </a:lnSpc>
              <a:spcBef>
                <a:spcPts val="0"/>
              </a:spcBef>
              <a:spcAft>
                <a:spcPts val="1575"/>
              </a:spcAft>
              <a:buFont typeface="Wingdings" panose="05000000000000000000" pitchFamily="2" charset="2"/>
              <a:buChar char=""/>
            </a:pPr>
            <a:r>
              <a:rPr lang="en-IN" spc="2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Gradient Boosting </a:t>
            </a:r>
            <a:endParaRPr lang="en-IN" spc="2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just">
              <a:lnSpc>
                <a:spcPts val="2250"/>
              </a:lnSpc>
              <a:spcBef>
                <a:spcPts val="0"/>
              </a:spcBef>
              <a:spcAft>
                <a:spcPts val="1575"/>
              </a:spcAft>
              <a:buFont typeface="Wingdings" panose="05000000000000000000" pitchFamily="2" charset="2"/>
              <a:buChar char=""/>
            </a:pPr>
            <a:r>
              <a:rPr lang="en-IN" spc="20" dirty="0" err="1"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XGBoost</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ts val="2250"/>
              </a:lnSpc>
              <a:spcBef>
                <a:spcPts val="0"/>
              </a:spcBef>
              <a:spcAft>
                <a:spcPts val="1575"/>
              </a:spcAft>
              <a:buFont typeface="Wingdings" panose="05000000000000000000" pitchFamily="2" charset="2"/>
              <a:buChar char=""/>
            </a:pPr>
            <a:r>
              <a:rPr lang="en-IN" spc="2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CatBoost</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ts val="2250"/>
              </a:lnSpc>
              <a:spcBef>
                <a:spcPts val="0"/>
              </a:spcBef>
              <a:spcAft>
                <a:spcPts val="1575"/>
              </a:spcAft>
              <a:buFont typeface="Wingdings" panose="05000000000000000000" pitchFamily="2" charset="2"/>
              <a:buChar char=""/>
            </a:pPr>
            <a:r>
              <a:rPr lang="en-IN" spc="2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Light GBM</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717904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50789" y="197598"/>
            <a:ext cx="8756822" cy="1467068"/>
          </a:xfrm>
          <a:prstGeom prst="rect">
            <a:avLst/>
          </a:prstGeom>
        </p:spPr>
        <p:txBody>
          <a:bodyPr wrap="square">
            <a:spAutoFit/>
          </a:bodyPr>
          <a:lstStyle/>
          <a:p>
            <a:pPr algn="just">
              <a:lnSpc>
                <a:spcPct val="150000"/>
              </a:lnSpc>
              <a:spcAft>
                <a:spcPts val="1000"/>
              </a:spcAft>
            </a:pPr>
            <a:r>
              <a:rPr lang="en-US" b="1" dirty="0">
                <a:solidFill>
                  <a:srgbClr val="000000"/>
                </a:solidFill>
                <a:latin typeface="Times New Roman" panose="02020603050405020304" pitchFamily="18" charset="0"/>
                <a:ea typeface="Calibri" panose="020F0502020204030204" pitchFamily="34" charset="0"/>
              </a:rPr>
              <a:t>SUPPORT VECTOR MACHINES:</a:t>
            </a:r>
            <a:endParaRPr lang="en-US" sz="2000" dirty="0">
              <a:solidFill>
                <a:srgbClr val="333333"/>
              </a:solidFill>
              <a:latin typeface="Times New Roman" panose="02020603050405020304" pitchFamily="18" charset="0"/>
              <a:ea typeface="Calibri" panose="020F0502020204030204" pitchFamily="34" charset="0"/>
            </a:endParaRPr>
          </a:p>
          <a:p>
            <a:pPr algn="just">
              <a:lnSpc>
                <a:spcPct val="150000"/>
              </a:lnSpc>
            </a:pPr>
            <a:r>
              <a:rPr lang="en-IN" dirty="0">
                <a:latin typeface="Times New Roman" panose="02020603050405020304" pitchFamily="18" charset="0"/>
                <a:ea typeface="Times New Roman" panose="02020603050405020304" pitchFamily="18" charset="0"/>
              </a:rPr>
              <a:t>The objective of the support vector machine algorithm is to find a hyper plane in an N-dimensional space (N — the number of features) that distinctly classifies the data points.</a:t>
            </a:r>
            <a:endParaRPr lang="en-US" dirty="0">
              <a:effectLst/>
              <a:latin typeface="Times New Roman" panose="02020603050405020304" pitchFamily="18" charset="0"/>
              <a:ea typeface="Times New Roman" panose="02020603050405020304" pitchFamily="18" charset="0"/>
            </a:endParaRPr>
          </a:p>
        </p:txBody>
      </p:sp>
      <p:pic>
        <p:nvPicPr>
          <p:cNvPr id="3" name="Picture 2"/>
          <p:cNvPicPr/>
          <p:nvPr/>
        </p:nvPicPr>
        <p:blipFill>
          <a:blip r:embed="rId2"/>
          <a:stretch>
            <a:fillRect/>
          </a:stretch>
        </p:blipFill>
        <p:spPr>
          <a:xfrm>
            <a:off x="3230245" y="2105660"/>
            <a:ext cx="5731510" cy="2646680"/>
          </a:xfrm>
          <a:prstGeom prst="rect">
            <a:avLst/>
          </a:prstGeom>
        </p:spPr>
      </p:pic>
    </p:spTree>
    <p:extLst>
      <p:ext uri="{BB962C8B-B14F-4D97-AF65-F5344CB8AC3E}">
        <p14:creationId xmlns:p14="http://schemas.microsoft.com/office/powerpoint/2010/main" val="39747854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73210" y="133571"/>
            <a:ext cx="10420866" cy="2201115"/>
          </a:xfrm>
          <a:prstGeom prst="rect">
            <a:avLst/>
          </a:prstGeom>
        </p:spPr>
        <p:txBody>
          <a:bodyPr wrap="square">
            <a:spAutoFit/>
          </a:bodyPr>
          <a:lstStyle/>
          <a:p>
            <a:pPr>
              <a:lnSpc>
                <a:spcPct val="115000"/>
              </a:lnSpc>
              <a:spcAft>
                <a:spcPts val="1000"/>
              </a:spcAft>
            </a:pPr>
            <a:r>
              <a:rPr lang="en-US" b="1" dirty="0">
                <a:solidFill>
                  <a:srgbClr val="000000"/>
                </a:solidFill>
                <a:latin typeface="Times New Roman" panose="02020603050405020304" pitchFamily="18" charset="0"/>
                <a:ea typeface="Calibri" panose="020F0502020204030204" pitchFamily="34" charset="0"/>
              </a:rPr>
              <a:t>Possible hyper planes :</a:t>
            </a:r>
            <a:endParaRPr lang="en-US" sz="2000" dirty="0">
              <a:solidFill>
                <a:srgbClr val="333333"/>
              </a:solidFill>
              <a:latin typeface="Times New Roman" panose="02020603050405020304" pitchFamily="18" charset="0"/>
              <a:ea typeface="Calibri" panose="020F0502020204030204" pitchFamily="34" charset="0"/>
            </a:endParaRPr>
          </a:p>
          <a:p>
            <a:pPr algn="just">
              <a:lnSpc>
                <a:spcPct val="150000"/>
              </a:lnSpc>
            </a:pPr>
            <a:r>
              <a:rPr lang="en-IN" dirty="0">
                <a:latin typeface="Times New Roman" panose="02020603050405020304" pitchFamily="18" charset="0"/>
                <a:ea typeface="Times New Roman" panose="02020603050405020304" pitchFamily="18" charset="0"/>
              </a:rPr>
              <a:t>To separate the two classes of data points, there are many possible Hyper planes that could be chosen. Our objective is to find a plane that has the maximum margin, i.e. the maximum distance between data points of both classes. Maximizing the margin distance provides some reinforcement so that future data points can be classified with more confidence.</a:t>
            </a:r>
            <a:endParaRPr lang="en-US" dirty="0">
              <a:effectLst/>
              <a:latin typeface="Times New Roman" panose="02020603050405020304" pitchFamily="18" charset="0"/>
              <a:ea typeface="Times New Roman" panose="02020603050405020304" pitchFamily="18" charset="0"/>
            </a:endParaRPr>
          </a:p>
        </p:txBody>
      </p:sp>
      <p:pic>
        <p:nvPicPr>
          <p:cNvPr id="3" name="Picture 2" descr="https://miro.medium.com/max/1400/1*ZpkLQf2FNfzfH4HXeMw4MQ.png"/>
          <p:cNvPicPr/>
          <p:nvPr/>
        </p:nvPicPr>
        <p:blipFill>
          <a:blip r:embed="rId2">
            <a:extLst>
              <a:ext uri="{28A0092B-C50C-407E-A947-70E740481C1C}">
                <a14:useLocalDpi xmlns:a14="http://schemas.microsoft.com/office/drawing/2010/main" val="0"/>
              </a:ext>
            </a:extLst>
          </a:blip>
          <a:srcRect/>
          <a:stretch>
            <a:fillRect/>
          </a:stretch>
        </p:blipFill>
        <p:spPr bwMode="auto">
          <a:xfrm>
            <a:off x="2749893" y="2978364"/>
            <a:ext cx="6667500" cy="2828925"/>
          </a:xfrm>
          <a:prstGeom prst="rect">
            <a:avLst/>
          </a:prstGeom>
          <a:noFill/>
          <a:ln>
            <a:noFill/>
          </a:ln>
        </p:spPr>
      </p:pic>
    </p:spTree>
    <p:extLst>
      <p:ext uri="{BB962C8B-B14F-4D97-AF65-F5344CB8AC3E}">
        <p14:creationId xmlns:p14="http://schemas.microsoft.com/office/powerpoint/2010/main" val="19359012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23934" y="173734"/>
            <a:ext cx="8911687" cy="727018"/>
          </a:xfrm>
        </p:spPr>
        <p:txBody>
          <a:bodyPr>
            <a:normAutofit/>
          </a:bodyPr>
          <a:lstStyle/>
          <a:p>
            <a:pPr algn="ctr"/>
            <a:r>
              <a:rPr lang="en-US" sz="3000" b="1" dirty="0">
                <a:latin typeface="Times New Roman" panose="02020603050405020304" pitchFamily="18" charset="0"/>
                <a:cs typeface="Times New Roman" panose="02020603050405020304" pitchFamily="18" charset="0"/>
              </a:rPr>
              <a:t>UML </a:t>
            </a:r>
            <a:r>
              <a:rPr lang="en-US" sz="3000" b="1" dirty="0" smtClean="0">
                <a:latin typeface="Times New Roman" panose="02020603050405020304" pitchFamily="18" charset="0"/>
                <a:cs typeface="Times New Roman" panose="02020603050405020304" pitchFamily="18" charset="0"/>
              </a:rPr>
              <a:t>Diagrams</a:t>
            </a:r>
            <a:endParaRPr lang="en-US" sz="3000" dirty="0"/>
          </a:p>
        </p:txBody>
      </p:sp>
      <p:sp>
        <p:nvSpPr>
          <p:cNvPr id="3" name="Content Placeholder 2"/>
          <p:cNvSpPr>
            <a:spLocks noGrp="1"/>
          </p:cNvSpPr>
          <p:nvPr>
            <p:ph idx="1"/>
          </p:nvPr>
        </p:nvSpPr>
        <p:spPr>
          <a:xfrm>
            <a:off x="1012750" y="900752"/>
            <a:ext cx="10797878" cy="5735424"/>
          </a:xfrm>
        </p:spPr>
        <p:txBody>
          <a:bodyPr>
            <a:noAutofit/>
          </a:bodyPr>
          <a:lstStyle/>
          <a:p>
            <a:pPr algn="just">
              <a:lnSpc>
                <a:spcPct val="150000"/>
              </a:lnSpc>
              <a:buFont typeface="Wingdings" panose="05000000000000000000" pitchFamily="2" charset="2"/>
              <a:buChar char="ü"/>
            </a:pPr>
            <a:r>
              <a:rPr lang="en-IN" sz="1800" dirty="0" err="1">
                <a:latin typeface="Times New Roman" panose="02020603050405020304" pitchFamily="18" charset="0"/>
                <a:cs typeface="Times New Roman" panose="02020603050405020304" pitchFamily="18" charset="0"/>
              </a:rPr>
              <a:t>Uml</a:t>
            </a:r>
            <a:r>
              <a:rPr lang="en-IN" sz="1800" dirty="0">
                <a:latin typeface="Times New Roman" panose="02020603050405020304" pitchFamily="18" charset="0"/>
                <a:cs typeface="Times New Roman" panose="02020603050405020304" pitchFamily="18" charset="0"/>
              </a:rPr>
              <a:t> stands for unified </a:t>
            </a:r>
            <a:r>
              <a:rPr lang="en-IN" sz="1800" dirty="0" err="1">
                <a:latin typeface="Times New Roman" panose="02020603050405020304" pitchFamily="18" charset="0"/>
                <a:cs typeface="Times New Roman" panose="02020603050405020304" pitchFamily="18" charset="0"/>
              </a:rPr>
              <a:t>modeling</a:t>
            </a:r>
            <a:r>
              <a:rPr lang="en-IN" sz="1800" dirty="0">
                <a:latin typeface="Times New Roman" panose="02020603050405020304" pitchFamily="18" charset="0"/>
                <a:cs typeface="Times New Roman" panose="02020603050405020304" pitchFamily="18" charset="0"/>
              </a:rPr>
              <a:t> language. </a:t>
            </a:r>
            <a:r>
              <a:rPr lang="en-IN" sz="1800" dirty="0" err="1">
                <a:latin typeface="Times New Roman" panose="02020603050405020304" pitchFamily="18" charset="0"/>
                <a:cs typeface="Times New Roman" panose="02020603050405020304" pitchFamily="18" charset="0"/>
              </a:rPr>
              <a:t>Uml</a:t>
            </a:r>
            <a:r>
              <a:rPr lang="en-IN" sz="1800" dirty="0">
                <a:latin typeface="Times New Roman" panose="02020603050405020304" pitchFamily="18" charset="0"/>
                <a:cs typeface="Times New Roman" panose="02020603050405020304" pitchFamily="18" charset="0"/>
              </a:rPr>
              <a:t> is a standardized general-purpose </a:t>
            </a:r>
            <a:r>
              <a:rPr lang="en-IN" sz="1800" dirty="0" err="1">
                <a:latin typeface="Times New Roman" panose="02020603050405020304" pitchFamily="18" charset="0"/>
                <a:cs typeface="Times New Roman" panose="02020603050405020304" pitchFamily="18" charset="0"/>
              </a:rPr>
              <a:t>modeling</a:t>
            </a:r>
            <a:r>
              <a:rPr lang="en-IN" sz="1800" dirty="0">
                <a:latin typeface="Times New Roman" panose="02020603050405020304" pitchFamily="18" charset="0"/>
                <a:cs typeface="Times New Roman" panose="02020603050405020304" pitchFamily="18" charset="0"/>
              </a:rPr>
              <a:t> language in the field of object-oriented software engineering. The standard is managed, and was created by, the object management group. </a:t>
            </a:r>
            <a:endParaRPr lang="en-US" sz="18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ü"/>
            </a:pPr>
            <a:r>
              <a:rPr lang="en-IN" sz="1800" dirty="0">
                <a:latin typeface="Times New Roman" panose="02020603050405020304" pitchFamily="18" charset="0"/>
                <a:cs typeface="Times New Roman" panose="02020603050405020304" pitchFamily="18" charset="0"/>
              </a:rPr>
              <a:t>The goal is for </a:t>
            </a:r>
            <a:r>
              <a:rPr lang="en-IN" sz="1800" dirty="0" err="1">
                <a:latin typeface="Times New Roman" panose="02020603050405020304" pitchFamily="18" charset="0"/>
                <a:cs typeface="Times New Roman" panose="02020603050405020304" pitchFamily="18" charset="0"/>
              </a:rPr>
              <a:t>uml</a:t>
            </a:r>
            <a:r>
              <a:rPr lang="en-IN" sz="1800" dirty="0">
                <a:latin typeface="Times New Roman" panose="02020603050405020304" pitchFamily="18" charset="0"/>
                <a:cs typeface="Times New Roman" panose="02020603050405020304" pitchFamily="18" charset="0"/>
              </a:rPr>
              <a:t> to become a common language for creating models of object oriented computer software. In its current form </a:t>
            </a:r>
            <a:r>
              <a:rPr lang="en-IN" sz="1800" dirty="0" err="1">
                <a:latin typeface="Times New Roman" panose="02020603050405020304" pitchFamily="18" charset="0"/>
                <a:cs typeface="Times New Roman" panose="02020603050405020304" pitchFamily="18" charset="0"/>
              </a:rPr>
              <a:t>uml</a:t>
            </a:r>
            <a:r>
              <a:rPr lang="en-IN" sz="1800" dirty="0">
                <a:latin typeface="Times New Roman" panose="02020603050405020304" pitchFamily="18" charset="0"/>
                <a:cs typeface="Times New Roman" panose="02020603050405020304" pitchFamily="18" charset="0"/>
              </a:rPr>
              <a:t> is comprised of two major components: a meta-model and a notation. In the future, some form of method or process may also be added to; or associated with, </a:t>
            </a:r>
            <a:r>
              <a:rPr lang="en-IN" sz="1800" dirty="0" err="1">
                <a:latin typeface="Times New Roman" panose="02020603050405020304" pitchFamily="18" charset="0"/>
                <a:cs typeface="Times New Roman" panose="02020603050405020304" pitchFamily="18" charset="0"/>
              </a:rPr>
              <a:t>uml</a:t>
            </a:r>
            <a:r>
              <a:rPr lang="en-IN" sz="1800" dirty="0">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ü"/>
            </a:pPr>
            <a:r>
              <a:rPr lang="en-IN" sz="1800" dirty="0" smtClean="0">
                <a:latin typeface="Times New Roman" panose="02020603050405020304" pitchFamily="18" charset="0"/>
                <a:cs typeface="Times New Roman" panose="02020603050405020304" pitchFamily="18" charset="0"/>
              </a:rPr>
              <a:t>The </a:t>
            </a:r>
            <a:r>
              <a:rPr lang="en-IN" sz="1800" dirty="0">
                <a:latin typeface="Times New Roman" panose="02020603050405020304" pitchFamily="18" charset="0"/>
                <a:cs typeface="Times New Roman" panose="02020603050405020304" pitchFamily="18" charset="0"/>
              </a:rPr>
              <a:t>unified </a:t>
            </a:r>
            <a:r>
              <a:rPr lang="en-IN" sz="1800" dirty="0" err="1">
                <a:latin typeface="Times New Roman" panose="02020603050405020304" pitchFamily="18" charset="0"/>
                <a:cs typeface="Times New Roman" panose="02020603050405020304" pitchFamily="18" charset="0"/>
              </a:rPr>
              <a:t>modeling</a:t>
            </a:r>
            <a:r>
              <a:rPr lang="en-IN" sz="1800" dirty="0">
                <a:latin typeface="Times New Roman" panose="02020603050405020304" pitchFamily="18" charset="0"/>
                <a:cs typeface="Times New Roman" panose="02020603050405020304" pitchFamily="18" charset="0"/>
              </a:rPr>
              <a:t> language is a standard language for specifying, visualization, constructing and documenting the </a:t>
            </a:r>
            <a:r>
              <a:rPr lang="en-IN" sz="1800" dirty="0" err="1">
                <a:latin typeface="Times New Roman" panose="02020603050405020304" pitchFamily="18" charset="0"/>
                <a:cs typeface="Times New Roman" panose="02020603050405020304" pitchFamily="18" charset="0"/>
              </a:rPr>
              <a:t>artifacts</a:t>
            </a:r>
            <a:r>
              <a:rPr lang="en-IN" sz="1800" dirty="0">
                <a:latin typeface="Times New Roman" panose="02020603050405020304" pitchFamily="18" charset="0"/>
                <a:cs typeface="Times New Roman" panose="02020603050405020304" pitchFamily="18" charset="0"/>
              </a:rPr>
              <a:t> of software system, as well as for business </a:t>
            </a:r>
            <a:r>
              <a:rPr lang="en-IN" sz="1800" dirty="0" err="1">
                <a:latin typeface="Times New Roman" panose="02020603050405020304" pitchFamily="18" charset="0"/>
                <a:cs typeface="Times New Roman" panose="02020603050405020304" pitchFamily="18" charset="0"/>
              </a:rPr>
              <a:t>modeling</a:t>
            </a:r>
            <a:r>
              <a:rPr lang="en-IN" sz="1800" dirty="0">
                <a:latin typeface="Times New Roman" panose="02020603050405020304" pitchFamily="18" charset="0"/>
                <a:cs typeface="Times New Roman" panose="02020603050405020304" pitchFamily="18" charset="0"/>
              </a:rPr>
              <a:t> and other non-software systems. </a:t>
            </a:r>
            <a:endParaRPr lang="en-US" sz="18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ü"/>
            </a:pPr>
            <a:r>
              <a:rPr lang="en-IN" sz="1800" dirty="0">
                <a:latin typeface="Times New Roman" panose="02020603050405020304" pitchFamily="18" charset="0"/>
                <a:cs typeface="Times New Roman" panose="02020603050405020304" pitchFamily="18" charset="0"/>
              </a:rPr>
              <a:t>The </a:t>
            </a:r>
            <a:r>
              <a:rPr lang="en-IN" sz="1800" dirty="0" err="1">
                <a:latin typeface="Times New Roman" panose="02020603050405020304" pitchFamily="18" charset="0"/>
                <a:cs typeface="Times New Roman" panose="02020603050405020304" pitchFamily="18" charset="0"/>
              </a:rPr>
              <a:t>uml</a:t>
            </a:r>
            <a:r>
              <a:rPr lang="en-IN" sz="1800" dirty="0">
                <a:latin typeface="Times New Roman" panose="02020603050405020304" pitchFamily="18" charset="0"/>
                <a:cs typeface="Times New Roman" panose="02020603050405020304" pitchFamily="18" charset="0"/>
              </a:rPr>
              <a:t> represents a collection of best engineering practices that have proven successful in the </a:t>
            </a:r>
            <a:r>
              <a:rPr lang="en-IN" sz="1800" dirty="0" err="1">
                <a:latin typeface="Times New Roman" panose="02020603050405020304" pitchFamily="18" charset="0"/>
                <a:cs typeface="Times New Roman" panose="02020603050405020304" pitchFamily="18" charset="0"/>
              </a:rPr>
              <a:t>modeling</a:t>
            </a:r>
            <a:r>
              <a:rPr lang="en-IN" sz="1800" dirty="0">
                <a:latin typeface="Times New Roman" panose="02020603050405020304" pitchFamily="18" charset="0"/>
                <a:cs typeface="Times New Roman" panose="02020603050405020304" pitchFamily="18" charset="0"/>
              </a:rPr>
              <a:t> of large and complex systems.</a:t>
            </a:r>
            <a:endParaRPr lang="en-US" sz="18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ü"/>
            </a:pPr>
            <a:r>
              <a:rPr lang="en-IN" sz="1800" dirty="0">
                <a:latin typeface="Times New Roman" panose="02020603050405020304" pitchFamily="18" charset="0"/>
                <a:cs typeface="Times New Roman" panose="02020603050405020304" pitchFamily="18" charset="0"/>
              </a:rPr>
              <a:t> The </a:t>
            </a:r>
            <a:r>
              <a:rPr lang="en-IN" sz="1800" dirty="0" err="1">
                <a:latin typeface="Times New Roman" panose="02020603050405020304" pitchFamily="18" charset="0"/>
                <a:cs typeface="Times New Roman" panose="02020603050405020304" pitchFamily="18" charset="0"/>
              </a:rPr>
              <a:t>uml</a:t>
            </a:r>
            <a:r>
              <a:rPr lang="en-IN" sz="1800" dirty="0">
                <a:latin typeface="Times New Roman" panose="02020603050405020304" pitchFamily="18" charset="0"/>
                <a:cs typeface="Times New Roman" panose="02020603050405020304" pitchFamily="18" charset="0"/>
              </a:rPr>
              <a:t> is a very important part of developing objects oriented software and the software development process. The </a:t>
            </a:r>
            <a:r>
              <a:rPr lang="en-IN" sz="1800" dirty="0" err="1">
                <a:latin typeface="Times New Roman" panose="02020603050405020304" pitchFamily="18" charset="0"/>
                <a:cs typeface="Times New Roman" panose="02020603050405020304" pitchFamily="18" charset="0"/>
              </a:rPr>
              <a:t>uml</a:t>
            </a:r>
            <a:r>
              <a:rPr lang="en-IN" sz="1800" dirty="0">
                <a:latin typeface="Times New Roman" panose="02020603050405020304" pitchFamily="18" charset="0"/>
                <a:cs typeface="Times New Roman" panose="02020603050405020304" pitchFamily="18" charset="0"/>
              </a:rPr>
              <a:t> uses mostly graphical notations to express the design of software projects.</a:t>
            </a:r>
            <a:endParaRPr lang="en-US" sz="18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ü"/>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08665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1428" y="1510747"/>
            <a:ext cx="10299512" cy="4442242"/>
          </a:xfrm>
          <a:prstGeom prst="rect">
            <a:avLst/>
          </a:prstGeom>
        </p:spPr>
        <p:txBody>
          <a:bodyPr wrap="square">
            <a:spAutoFit/>
          </a:bodyPr>
          <a:lstStyle/>
          <a:p>
            <a:pPr algn="just">
              <a:lnSpc>
                <a:spcPct val="150000"/>
              </a:lnSpc>
              <a:spcAft>
                <a:spcPts val="800"/>
              </a:spcAft>
            </a:pPr>
            <a:r>
              <a:rPr lang="en-US" sz="24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Use case diagram:</a:t>
            </a: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pPr>
            <a:r>
              <a:rPr lang="en-US" sz="2000" kern="150" dirty="0">
                <a:solidFill>
                  <a:srgbClr val="000000"/>
                </a:solidFill>
                <a:latin typeface="Times New Roman" panose="02020603050405020304" pitchFamily="18" charset="0"/>
                <a:ea typeface="DejaVu Sans"/>
                <a:cs typeface="DejaVu Sans"/>
              </a:rPr>
              <a:t>A use case diagram in the unified modeling language (</a:t>
            </a:r>
            <a:r>
              <a:rPr lang="en-US" sz="2000" kern="150" dirty="0" err="1">
                <a:solidFill>
                  <a:srgbClr val="000000"/>
                </a:solidFill>
                <a:latin typeface="Times New Roman" panose="02020603050405020304" pitchFamily="18" charset="0"/>
                <a:ea typeface="DejaVu Sans"/>
                <a:cs typeface="DejaVu Sans"/>
              </a:rPr>
              <a:t>uml</a:t>
            </a:r>
            <a:r>
              <a:rPr lang="en-US" sz="2000" kern="150" dirty="0">
                <a:solidFill>
                  <a:srgbClr val="000000"/>
                </a:solidFill>
                <a:latin typeface="Times New Roman" panose="02020603050405020304" pitchFamily="18" charset="0"/>
                <a:ea typeface="DejaVu Sans"/>
                <a:cs typeface="DejaVu Sans"/>
              </a:rPr>
              <a:t>) is a type of behavioral diagram defined by and created from a use-case analysis. Its purpose is to present a graphical overview of the functionality provided by a system in terms of actors, their goals (represented as use cases), and any dependencies between those use cases. The main purpose of a use case diagram is to show what system functions are performed for which actor. Roles of the actors in the system can be depicted.</a:t>
            </a:r>
          </a:p>
          <a:p>
            <a:pPr algn="just">
              <a:lnSpc>
                <a:spcPct val="150000"/>
              </a:lnSpc>
            </a:pPr>
            <a:endParaRPr lang="en-US" sz="2000" kern="150" dirty="0">
              <a:solidFill>
                <a:srgbClr val="000000"/>
              </a:solidFill>
              <a:latin typeface="Times New Roman" panose="02020603050405020304" pitchFamily="18" charset="0"/>
              <a:ea typeface="DejaVu Sans"/>
              <a:cs typeface="DejaVu Sans"/>
            </a:endParaRPr>
          </a:p>
          <a:p>
            <a:pPr algn="just">
              <a:lnSpc>
                <a:spcPct val="150000"/>
              </a:lnSpc>
            </a:pPr>
            <a:endParaRPr lang="en-US" sz="2000" kern="150" dirty="0">
              <a:effectLst/>
              <a:latin typeface="Liberation Serif"/>
              <a:ea typeface="DejaVu Sans"/>
              <a:cs typeface="DejaVu Sans"/>
            </a:endParaRPr>
          </a:p>
        </p:txBody>
      </p:sp>
    </p:spTree>
    <p:extLst>
      <p:ext uri="{BB962C8B-B14F-4D97-AF65-F5344CB8AC3E}">
        <p14:creationId xmlns:p14="http://schemas.microsoft.com/office/powerpoint/2010/main" val="18070863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524259" y="156578"/>
            <a:ext cx="6778661" cy="6450284"/>
          </a:xfrm>
          <a:prstGeom prst="rect">
            <a:avLst/>
          </a:prstGeom>
        </p:spPr>
      </p:pic>
    </p:spTree>
    <p:extLst>
      <p:ext uri="{BB962C8B-B14F-4D97-AF65-F5344CB8AC3E}">
        <p14:creationId xmlns:p14="http://schemas.microsoft.com/office/powerpoint/2010/main" val="26130684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719618" y="1493949"/>
            <a:ext cx="8416055" cy="3113673"/>
          </a:xfrm>
          <a:prstGeom prst="rect">
            <a:avLst/>
          </a:prstGeom>
        </p:spPr>
        <p:txBody>
          <a:bodyPr wrap="square">
            <a:spAutoFit/>
          </a:bodyPr>
          <a:lstStyle/>
          <a:p>
            <a:pPr algn="just">
              <a:lnSpc>
                <a:spcPct val="150000"/>
              </a:lnSpc>
              <a:spcAft>
                <a:spcPts val="800"/>
              </a:spcAft>
            </a:pPr>
            <a:r>
              <a:rPr lang="en-US" sz="24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Class diagram:</a:t>
            </a: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tabLst>
                <a:tab pos="1573530" algn="l"/>
              </a:tabLst>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In software engineering, a class diagram in the unified modeling language (</a:t>
            </a: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uml</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is a type of static structure diagram that describes the structure of a system by showing the system's classes, their attributes, operations (or methods), and the relationships among the classes. It explains which class contains information. </a:t>
            </a:r>
          </a:p>
          <a:p>
            <a:pPr algn="just">
              <a:lnSpc>
                <a:spcPct val="150000"/>
              </a:lnSpc>
              <a:spcAft>
                <a:spcPts val="800"/>
              </a:spcAft>
              <a:tabLst>
                <a:tab pos="1573530" algn="l"/>
              </a:tabLst>
            </a:pP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365423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629883" y="1493949"/>
            <a:ext cx="6913217" cy="3606084"/>
          </a:xfrm>
          <a:prstGeom prst="rect">
            <a:avLst/>
          </a:prstGeom>
        </p:spPr>
      </p:pic>
    </p:spTree>
    <p:extLst>
      <p:ext uri="{BB962C8B-B14F-4D97-AF65-F5344CB8AC3E}">
        <p14:creationId xmlns:p14="http://schemas.microsoft.com/office/powerpoint/2010/main" val="41741118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57486" y="1249250"/>
            <a:ext cx="8584250" cy="3067506"/>
          </a:xfrm>
          <a:prstGeom prst="rect">
            <a:avLst/>
          </a:prstGeom>
        </p:spPr>
        <p:txBody>
          <a:bodyPr wrap="square">
            <a:spAutoFit/>
          </a:bodyPr>
          <a:lstStyle/>
          <a:p>
            <a:pPr algn="just">
              <a:lnSpc>
                <a:spcPct val="150000"/>
              </a:lnSpc>
              <a:spcAft>
                <a:spcPts val="800"/>
              </a:spcAft>
            </a:pPr>
            <a:r>
              <a:rPr lang="en-US" sz="24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Sequence diagram:</a:t>
            </a: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 sequence diagram in unified modeling language (</a:t>
            </a: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uml</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is a kind of interaction diagram that shows how processes operate with one another and in what order. It is a construct of a message sequence chart. Sequence diagrams are sometimes called event diagrams, event scenarios, and timing diagrams.</a:t>
            </a:r>
          </a:p>
          <a:p>
            <a:pPr algn="just">
              <a:lnSpc>
                <a:spcPct val="150000"/>
              </a:lnSpc>
              <a:spcAft>
                <a:spcPts val="800"/>
              </a:spcAft>
            </a:pP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916971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683358" y="527559"/>
            <a:ext cx="4645889" cy="5865759"/>
          </a:xfrm>
          <a:prstGeom prst="rect">
            <a:avLst/>
          </a:prstGeom>
        </p:spPr>
      </p:pic>
    </p:spTree>
    <p:extLst>
      <p:ext uri="{BB962C8B-B14F-4D97-AF65-F5344CB8AC3E}">
        <p14:creationId xmlns:p14="http://schemas.microsoft.com/office/powerpoint/2010/main" val="31510712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33341" y="1197735"/>
            <a:ext cx="9865217" cy="3518912"/>
          </a:xfrm>
          <a:prstGeom prst="rect">
            <a:avLst/>
          </a:prstGeom>
        </p:spPr>
        <p:txBody>
          <a:bodyPr wrap="square">
            <a:spAutoFit/>
          </a:bodyPr>
          <a:lstStyle/>
          <a:p>
            <a:pPr algn="just">
              <a:lnSpc>
                <a:spcPct val="150000"/>
              </a:lnSpc>
              <a:spcAft>
                <a:spcPts val="800"/>
              </a:spcAft>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4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Collaboration diagram:</a:t>
            </a: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pPr>
            <a:r>
              <a:rPr lang="en-US" sz="2000" dirty="0">
                <a:solidFill>
                  <a:srgbClr val="000000"/>
                </a:solidFill>
                <a:latin typeface="Times New Roman" panose="02020603050405020304" pitchFamily="18" charset="0"/>
                <a:ea typeface="Times New Roman" panose="02020603050405020304" pitchFamily="18" charset="0"/>
              </a:rPr>
              <a:t>In collaboration diagram the method call sequence is indicated by some numbering technique as shown below. The number indicates how the methods are called one after another. We have taken the same order management system to describe the collaboration diagram. The method calls are similar to that of a sequence diagram. But the difference is that the sequence diagram does not describe the object organization whereas the collaboration diagram shows the object organization.</a:t>
            </a:r>
            <a:endParaRPr lang="en-US"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2319226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150772" y="1185931"/>
            <a:ext cx="8137988" cy="4068994"/>
          </a:xfrm>
          <a:prstGeom prst="rect">
            <a:avLst/>
          </a:prstGeom>
        </p:spPr>
      </p:pic>
    </p:spTree>
    <p:extLst>
      <p:ext uri="{BB962C8B-B14F-4D97-AF65-F5344CB8AC3E}">
        <p14:creationId xmlns:p14="http://schemas.microsoft.com/office/powerpoint/2010/main" val="30400932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15797" y="1313645"/>
            <a:ext cx="9688823" cy="2595582"/>
          </a:xfrm>
          <a:prstGeom prst="rect">
            <a:avLst/>
          </a:prstGeom>
        </p:spPr>
        <p:txBody>
          <a:bodyPr wrap="square">
            <a:spAutoFit/>
          </a:bodyPr>
          <a:lstStyle/>
          <a:p>
            <a:pPr algn="just">
              <a:lnSpc>
                <a:spcPct val="150000"/>
              </a:lnSpc>
              <a:spcAft>
                <a:spcPts val="800"/>
              </a:spcAft>
            </a:pPr>
            <a:r>
              <a:rPr lang="en-US" sz="24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Deployment diagram:</a:t>
            </a: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Deployment diagram represents the deployment view of a system. It is related to the component diagram. Because the components are deployed using the deployment diagrams. A deployment diagram consists of nodes. Nodes are nothing but physical hard ware’s used to deploy the application.</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310588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2"/>
          <a:stretch>
            <a:fillRect/>
          </a:stretch>
        </p:blipFill>
        <p:spPr>
          <a:xfrm>
            <a:off x="3670478" y="2137893"/>
            <a:ext cx="5318975" cy="1755551"/>
          </a:xfrm>
          <a:prstGeom prst="rect">
            <a:avLst/>
          </a:prstGeom>
        </p:spPr>
      </p:pic>
    </p:spTree>
    <p:extLst>
      <p:ext uri="{BB962C8B-B14F-4D97-AF65-F5344CB8AC3E}">
        <p14:creationId xmlns:p14="http://schemas.microsoft.com/office/powerpoint/2010/main" val="11919775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23309" y="1197736"/>
            <a:ext cx="8985097" cy="3416320"/>
          </a:xfrm>
          <a:prstGeom prst="rect">
            <a:avLst/>
          </a:prstGeom>
        </p:spPr>
        <p:txBody>
          <a:bodyPr wrap="square">
            <a:spAutoFit/>
          </a:bodyPr>
          <a:lstStyle/>
          <a:p>
            <a:pPr algn="just">
              <a:lnSpc>
                <a:spcPct val="150000"/>
              </a:lnSpc>
            </a:pPr>
            <a:r>
              <a:rPr lang="en-US" sz="2400" b="1" dirty="0">
                <a:solidFill>
                  <a:srgbClr val="0070C0"/>
                </a:solidFill>
                <a:latin typeface="Times New Roman" panose="02020603050405020304" pitchFamily="18" charset="0"/>
                <a:ea typeface="Times New Roman" panose="02020603050405020304" pitchFamily="18" charset="0"/>
              </a:rPr>
              <a:t>Component diagram:</a:t>
            </a:r>
          </a:p>
          <a:p>
            <a:pPr algn="just">
              <a:lnSpc>
                <a:spcPct val="150000"/>
              </a:lnSpc>
            </a:pPr>
            <a:r>
              <a:rPr lang="en-US" sz="2000" dirty="0">
                <a:solidFill>
                  <a:srgbClr val="000000"/>
                </a:solidFill>
                <a:latin typeface="Times New Roman" panose="02020603050405020304" pitchFamily="18" charset="0"/>
                <a:ea typeface="Times New Roman" panose="02020603050405020304" pitchFamily="18" charset="0"/>
              </a:rPr>
              <a:t>Component diagrams are used to describe the physical artifacts of a system. This artifact includes files, executable, libraries etc. So the purpose of this diagram is different, component diagrams are used during the implementation phase of an application. But it is prepared well in advance to visualize the implementation details. Initially the system is designed using different </a:t>
            </a:r>
            <a:r>
              <a:rPr lang="en-US" sz="2000" dirty="0" err="1">
                <a:solidFill>
                  <a:srgbClr val="000000"/>
                </a:solidFill>
                <a:latin typeface="Times New Roman" panose="02020603050405020304" pitchFamily="18" charset="0"/>
                <a:ea typeface="Times New Roman" panose="02020603050405020304" pitchFamily="18" charset="0"/>
              </a:rPr>
              <a:t>uml</a:t>
            </a:r>
            <a:r>
              <a:rPr lang="en-US" sz="2000" dirty="0">
                <a:solidFill>
                  <a:srgbClr val="000000"/>
                </a:solidFill>
                <a:latin typeface="Times New Roman" panose="02020603050405020304" pitchFamily="18" charset="0"/>
                <a:ea typeface="Times New Roman" panose="02020603050405020304" pitchFamily="18" charset="0"/>
              </a:rPr>
              <a:t> diagrams and then when the artifacts are ready component diagrams are used to get an idea of the implementation.</a:t>
            </a:r>
            <a:endParaRPr lang="en-US"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3670190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2"/>
          <a:stretch>
            <a:fillRect/>
          </a:stretch>
        </p:blipFill>
        <p:spPr>
          <a:xfrm>
            <a:off x="2859110" y="2099257"/>
            <a:ext cx="5988676" cy="2004811"/>
          </a:xfrm>
          <a:prstGeom prst="rect">
            <a:avLst/>
          </a:prstGeom>
        </p:spPr>
      </p:pic>
    </p:spTree>
    <p:extLst>
      <p:ext uri="{BB962C8B-B14F-4D97-AF65-F5344CB8AC3E}">
        <p14:creationId xmlns:p14="http://schemas.microsoft.com/office/powerpoint/2010/main" val="21073270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92824" y="1600237"/>
            <a:ext cx="8666328" cy="3057247"/>
          </a:xfrm>
          <a:prstGeom prst="rect">
            <a:avLst/>
          </a:prstGeom>
        </p:spPr>
        <p:txBody>
          <a:bodyPr wrap="square">
            <a:spAutoFit/>
          </a:bodyPr>
          <a:lstStyle/>
          <a:p>
            <a:pPr algn="just">
              <a:lnSpc>
                <a:spcPct val="150000"/>
              </a:lnSpc>
              <a:spcAft>
                <a:spcPts val="800"/>
              </a:spcAft>
            </a:pPr>
            <a:r>
              <a:rPr lang="en-US" sz="2400" b="1" dirty="0">
                <a:latin typeface="Times New Roman" panose="02020603050405020304" pitchFamily="18" charset="0"/>
                <a:ea typeface="Calibri" panose="020F0502020204030204" pitchFamily="34" charset="0"/>
                <a:cs typeface="Times New Roman" panose="02020603050405020304" pitchFamily="18" charset="0"/>
              </a:rPr>
              <a:t>Activity diagram:</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Activity diagrams are graphical representations of workflows of stepwise activities and actions with support for choice, iteration and concurrency. In the unified modeling language, activity diagrams can be used to describe the business and operational step-by-step workflows of components in a system. An activity diagram shows the overall flow of control.</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22130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361387" y="108291"/>
            <a:ext cx="4250028" cy="6455582"/>
          </a:xfrm>
          <a:prstGeom prst="rect">
            <a:avLst/>
          </a:prstGeom>
        </p:spPr>
      </p:pic>
    </p:spTree>
    <p:extLst>
      <p:ext uri="{BB962C8B-B14F-4D97-AF65-F5344CB8AC3E}">
        <p14:creationId xmlns:p14="http://schemas.microsoft.com/office/powerpoint/2010/main" val="1476723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21090" y="1455312"/>
            <a:ext cx="9122921" cy="2595582"/>
          </a:xfrm>
          <a:prstGeom prst="rect">
            <a:avLst/>
          </a:prstGeom>
        </p:spPr>
        <p:txBody>
          <a:bodyPr wrap="square">
            <a:spAutoFit/>
          </a:bodyPr>
          <a:lstStyle/>
          <a:p>
            <a:pPr algn="just">
              <a:lnSpc>
                <a:spcPct val="150000"/>
              </a:lnSpc>
              <a:spcAft>
                <a:spcPts val="800"/>
              </a:spcAft>
            </a:pPr>
            <a:r>
              <a:rPr lang="en-US" sz="24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ER Diagram:</a:t>
            </a: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An Entity–relationship model (ER model) describes the structure of a database with the help of a diagram, which is known as Entity Relationship Diagram (ER Diagram). An ER model is a design or blueprint of a database that can later be implemented as a database. The main components of E-R model are: entity set and relationship set.</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058886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01652" y="1468192"/>
            <a:ext cx="10079275" cy="3825025"/>
          </a:xfrm>
          <a:prstGeom prst="rect">
            <a:avLst/>
          </a:prstGeom>
        </p:spPr>
      </p:pic>
    </p:spTree>
    <p:extLst>
      <p:ext uri="{BB962C8B-B14F-4D97-AF65-F5344CB8AC3E}">
        <p14:creationId xmlns:p14="http://schemas.microsoft.com/office/powerpoint/2010/main" val="41024313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26519" y="1056068"/>
            <a:ext cx="9127340" cy="4442242"/>
          </a:xfrm>
          <a:prstGeom prst="rect">
            <a:avLst/>
          </a:prstGeom>
        </p:spPr>
        <p:txBody>
          <a:bodyPr wrap="square">
            <a:spAutoFit/>
          </a:bodyPr>
          <a:lstStyle/>
          <a:p>
            <a:pPr algn="just">
              <a:lnSpc>
                <a:spcPct val="150000"/>
              </a:lnSpc>
              <a:spcAft>
                <a:spcPts val="800"/>
              </a:spcAft>
            </a:pPr>
            <a:r>
              <a:rPr lang="en-US" sz="24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DFD Diagram:</a:t>
            </a: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 Data Flow Diagram (DFD) is a traditional way to visualize the information flows within a system. A neat and clear DFD can depict a good amount of the system requirements graphically. It can be manual, automated, or a combination of both. It shows how information enters and leaves the system, what changes the information and where information is stored. The purpose of a DFD is to show the scope and boundaries of a system as a whole. It may be used as a communications tool between a systems analyst and any person who plays a part in the system that acts as the starting point for redesigning a system.</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440797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9711" y="277338"/>
            <a:ext cx="2832827" cy="504625"/>
          </a:xfrm>
          <a:prstGeom prst="rect">
            <a:avLst/>
          </a:prstGeom>
        </p:spPr>
        <p:txBody>
          <a:bodyPr wrap="none">
            <a:spAutoFit/>
          </a:bodyPr>
          <a:lstStyle/>
          <a:p>
            <a:pPr algn="just">
              <a:lnSpc>
                <a:spcPct val="150000"/>
              </a:lnSpc>
              <a:spcAft>
                <a:spcPts val="800"/>
              </a:spcAft>
            </a:pPr>
            <a:r>
              <a:rPr lang="en-US" sz="2000" b="1" dirty="0" smtClean="0">
                <a:solidFill>
                  <a:srgbClr val="0070C0"/>
                </a:solidFill>
                <a:latin typeface="Times New Roman" panose="02020603050405020304" pitchFamily="18" charset="0"/>
                <a:ea typeface="Calibri" panose="020F0502020204030204" pitchFamily="34" charset="0"/>
                <a:cs typeface="Times New Roman" panose="02020603050405020304" pitchFamily="18" charset="0"/>
              </a:rPr>
              <a:t>Context Level </a:t>
            </a:r>
            <a:r>
              <a:rPr lang="en-US" sz="20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Diagram:</a:t>
            </a:r>
            <a:endParaRPr lang="en-US" sz="20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2542361" y="2408349"/>
            <a:ext cx="7865129" cy="1766013"/>
          </a:xfrm>
          <a:prstGeom prst="rect">
            <a:avLst/>
          </a:prstGeom>
        </p:spPr>
      </p:pic>
    </p:spTree>
    <p:extLst>
      <p:ext uri="{BB962C8B-B14F-4D97-AF65-F5344CB8AC3E}">
        <p14:creationId xmlns:p14="http://schemas.microsoft.com/office/powerpoint/2010/main" val="19220078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89276" y="125676"/>
            <a:ext cx="2380780" cy="566502"/>
          </a:xfrm>
          <a:prstGeom prst="rect">
            <a:avLst/>
          </a:prstGeom>
        </p:spPr>
        <p:txBody>
          <a:bodyPr wrap="none">
            <a:spAutoFit/>
          </a:bodyPr>
          <a:lstStyle/>
          <a:p>
            <a:pPr algn="just">
              <a:lnSpc>
                <a:spcPct val="150000"/>
              </a:lnSpc>
              <a:spcAft>
                <a:spcPts val="800"/>
              </a:spcAft>
            </a:pPr>
            <a:r>
              <a:rPr lang="en-US" sz="23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Level 1 Diagram:</a:t>
            </a:r>
            <a:endParaRPr lang="en-US" sz="23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3370056" y="547726"/>
            <a:ext cx="6918744" cy="5994742"/>
          </a:xfrm>
          <a:prstGeom prst="rect">
            <a:avLst/>
          </a:prstGeom>
        </p:spPr>
      </p:pic>
    </p:spTree>
    <p:extLst>
      <p:ext uri="{BB962C8B-B14F-4D97-AF65-F5344CB8AC3E}">
        <p14:creationId xmlns:p14="http://schemas.microsoft.com/office/powerpoint/2010/main" val="7262759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69333" y="172770"/>
            <a:ext cx="2380780" cy="566502"/>
          </a:xfrm>
          <a:prstGeom prst="rect">
            <a:avLst/>
          </a:prstGeom>
        </p:spPr>
        <p:txBody>
          <a:bodyPr wrap="none">
            <a:spAutoFit/>
          </a:bodyPr>
          <a:lstStyle/>
          <a:p>
            <a:pPr algn="just">
              <a:lnSpc>
                <a:spcPct val="150000"/>
              </a:lnSpc>
              <a:spcAft>
                <a:spcPts val="800"/>
              </a:spcAft>
            </a:pPr>
            <a:r>
              <a:rPr lang="en-US" sz="23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Level 2 Diagram:</a:t>
            </a:r>
            <a:endParaRPr lang="en-US" sz="2300" b="1"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3381014" y="172770"/>
            <a:ext cx="6934963" cy="6298628"/>
          </a:xfrm>
          <a:prstGeom prst="rect">
            <a:avLst/>
          </a:prstGeom>
        </p:spPr>
      </p:pic>
    </p:spTree>
    <p:extLst>
      <p:ext uri="{BB962C8B-B14F-4D97-AF65-F5344CB8AC3E}">
        <p14:creationId xmlns:p14="http://schemas.microsoft.com/office/powerpoint/2010/main" val="72228999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docProps/app.xml><?xml version="1.0" encoding="utf-8"?>
<Properties xmlns="http://schemas.openxmlformats.org/officeDocument/2006/extended-properties" xmlns:vt="http://schemas.openxmlformats.org/officeDocument/2006/docPropsVTypes">
  <Template>Facet</Template>
  <TotalTime>130</TotalTime>
  <Words>2833</Words>
  <Application>Microsoft Office PowerPoint</Application>
  <PresentationFormat>Widescreen</PresentationFormat>
  <Paragraphs>171</Paragraphs>
  <Slides>45</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45</vt:i4>
      </vt:variant>
    </vt:vector>
  </HeadingPairs>
  <TitlesOfParts>
    <vt:vector size="57" baseType="lpstr">
      <vt:lpstr>Arial</vt:lpstr>
      <vt:lpstr>Calibri</vt:lpstr>
      <vt:lpstr>Courier New</vt:lpstr>
      <vt:lpstr>DejaVu Sans</vt:lpstr>
      <vt:lpstr>Droid Sans Fallback</vt:lpstr>
      <vt:lpstr>Liberation Serif</vt:lpstr>
      <vt:lpstr>Symbol</vt:lpstr>
      <vt:lpstr>Times New Roman</vt:lpstr>
      <vt:lpstr>Trebuchet MS</vt:lpstr>
      <vt:lpstr>Wingdings</vt:lpstr>
      <vt:lpstr>Wingdings 3</vt:lpstr>
      <vt:lpstr>Facet</vt:lpstr>
      <vt:lpstr>PowerPoint Presentation</vt:lpstr>
      <vt:lpstr>INDEX </vt:lpstr>
      <vt:lpstr>ABSTRACT</vt:lpstr>
      <vt:lpstr>PowerPoint Presentation</vt:lpstr>
      <vt:lpstr>INTRODUCTION   </vt:lpstr>
      <vt:lpstr>PowerPoint Presentation</vt:lpstr>
      <vt:lpstr>LITERATURE REVIEW  </vt:lpstr>
      <vt:lpstr>EXISTING METHOD</vt:lpstr>
      <vt:lpstr>PROPOSED METHOD </vt:lpstr>
      <vt:lpstr>BLOCK DIAGRAM</vt:lpstr>
      <vt:lpstr>ARCHITECTURE</vt:lpstr>
      <vt:lpstr>IMPLEMENTATION</vt:lpstr>
      <vt:lpstr>HARDWARE &amp; SOFTWARE REQUIREMENTS </vt:lpstr>
      <vt:lpstr>MODULES</vt:lpstr>
      <vt:lpstr>PowerPoint Presentation</vt:lpstr>
      <vt:lpstr>PowerPoint Presentation</vt:lpstr>
      <vt:lpstr>Algorithms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UML Diagrams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K.ARUNA KUMARI</dc:creator>
  <cp:lastModifiedBy>Chandra Mouli B V S R</cp:lastModifiedBy>
  <cp:revision>37</cp:revision>
  <dcterms:created xsi:type="dcterms:W3CDTF">2022-08-17T10:37:24Z</dcterms:created>
  <dcterms:modified xsi:type="dcterms:W3CDTF">2022-08-19T05:04:39Z</dcterms:modified>
</cp:coreProperties>
</file>
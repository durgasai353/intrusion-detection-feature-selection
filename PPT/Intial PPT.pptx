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7" r:id="rId2"/>
    <p:sldId id="258" r:id="rId3"/>
    <p:sldId id="259" r:id="rId4"/>
    <p:sldId id="305" r:id="rId5"/>
    <p:sldId id="260" r:id="rId6"/>
    <p:sldId id="261" r:id="rId7"/>
    <p:sldId id="262" r:id="rId8"/>
    <p:sldId id="263" r:id="rId9"/>
    <p:sldId id="264" r:id="rId10"/>
    <p:sldId id="265" r:id="rId11"/>
    <p:sldId id="266" r:id="rId12"/>
    <p:sldId id="267" r:id="rId13"/>
    <p:sldId id="268" r:id="rId14"/>
    <p:sldId id="314" r:id="rId15"/>
    <p:sldId id="315" r:id="rId16"/>
    <p:sldId id="31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6" d="100"/>
          <a:sy n="116" d="100"/>
        </p:scale>
        <p:origin x="39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372354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3713408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710583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1273302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B05A87C-D702-403A-A729-4774D55BBBF3}" type="datetimeFigureOut">
              <a:rPr lang="en-IN" smtClean="0"/>
              <a:t>19-08-2022</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246755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B05A87C-D702-403A-A729-4774D55BBBF3}" type="datetimeFigureOut">
              <a:rPr lang="en-IN" smtClean="0"/>
              <a:t>19-08-2022</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673769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05A87C-D702-403A-A729-4774D55BBBF3}" type="datetimeFigureOut">
              <a:rPr lang="en-IN" smtClean="0"/>
              <a:t>19-08-2022</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380690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2254730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3330049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2189357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AAA570E-F860-491C-88EB-CD855F8B8C9A}"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973507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3493337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AAA570E-F860-491C-88EB-CD855F8B8C9A}"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17513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B05A87C-D702-403A-A729-4774D55BBBF3}" type="datetimeFigureOut">
              <a:rPr lang="en-IN" smtClean="0"/>
              <a:t>19-08-2022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31594391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38648126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05A87C-D702-403A-A729-4774D55BBBF3}" type="datetimeFigureOut">
              <a:rPr lang="en-IN" smtClean="0"/>
              <a:t>19-08-2022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AAA570E-F860-491C-88EB-CD855F8B8C9A}" type="slidenum">
              <a:rPr lang="en-IN" smtClean="0"/>
              <a:t>‹#›</a:t>
            </a:fld>
            <a:endParaRPr lang="en-IN"/>
          </a:p>
        </p:txBody>
      </p:sp>
    </p:spTree>
    <p:extLst>
      <p:ext uri="{BB962C8B-B14F-4D97-AF65-F5344CB8AC3E}">
        <p14:creationId xmlns:p14="http://schemas.microsoft.com/office/powerpoint/2010/main" val="2108165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B05A87C-D702-403A-A729-4774D55BBBF3}" type="datetimeFigureOut">
              <a:rPr lang="en-IN" smtClean="0"/>
              <a:t>19-08-2022</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AAA570E-F860-491C-88EB-CD855F8B8C9A}" type="slidenum">
              <a:rPr lang="en-IN" smtClean="0"/>
              <a:t>‹#›</a:t>
            </a:fld>
            <a:endParaRPr lang="en-IN"/>
          </a:p>
        </p:txBody>
      </p:sp>
    </p:spTree>
    <p:extLst>
      <p:ext uri="{BB962C8B-B14F-4D97-AF65-F5344CB8AC3E}">
        <p14:creationId xmlns:p14="http://schemas.microsoft.com/office/powerpoint/2010/main" val="116255924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4"/>
          <p:cNvSpPr>
            <a:spLocks noChangeArrowheads="1"/>
          </p:cNvSpPr>
          <p:nvPr/>
        </p:nvSpPr>
        <p:spPr bwMode="auto">
          <a:xfrm>
            <a:off x="2752733" y="1905000"/>
            <a:ext cx="8001000" cy="1752600"/>
          </a:xfrm>
          <a:prstGeom prst="roundRect">
            <a:avLst>
              <a:gd name="adj" fmla="val 16667"/>
            </a:avLst>
          </a:prstGeom>
          <a:noFill/>
          <a:ln>
            <a:noFill/>
          </a:ln>
          <a:effectLst/>
        </p:spPr>
        <p:txBody>
          <a:bodyPr wrap="none" anchor="ctr"/>
          <a:lstStyle/>
          <a:p>
            <a:pPr eaLnBrk="1" hangingPunct="1">
              <a:buClr>
                <a:srgbClr val="000000"/>
              </a:buClr>
              <a:buSzPct val="100000"/>
              <a:buFont typeface="Times New Roman" panose="02020603050405020304" pitchFamily="18" charset="0"/>
              <a:buNone/>
            </a:pPr>
            <a:endParaRPr lang="en-IN" altLang="en-US"/>
          </a:p>
        </p:txBody>
      </p:sp>
      <p:sp>
        <p:nvSpPr>
          <p:cNvPr id="17" name="Text Box 5"/>
          <p:cNvSpPr txBox="1">
            <a:spLocks noChangeArrowheads="1"/>
          </p:cNvSpPr>
          <p:nvPr/>
        </p:nvSpPr>
        <p:spPr bwMode="auto">
          <a:xfrm>
            <a:off x="1440251" y="2504407"/>
            <a:ext cx="9674086" cy="1844388"/>
          </a:xfrm>
          <a:prstGeom prst="rect">
            <a:avLst/>
          </a:prstGeom>
          <a:noFill/>
          <a:ln w="9525">
            <a:solidFill>
              <a:srgbClr val="3465A4"/>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anose="020F050202020403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9pPr>
          </a:lstStyle>
          <a:p>
            <a:pPr algn="ctr"/>
            <a:r>
              <a:rPr lang="en-IN" sz="3600" b="1" dirty="0">
                <a:solidFill>
                  <a:srgbClr val="7030A0"/>
                </a:solidFill>
                <a:latin typeface="Times New Roman" panose="02020603050405020304" pitchFamily="18" charset="0"/>
                <a:cs typeface="Times New Roman" panose="02020603050405020304" pitchFamily="18" charset="0"/>
              </a:rPr>
              <a:t>Performance Analysis of Intrusion Detection Systems Using a Feature Selection Method</a:t>
            </a:r>
            <a:endParaRPr lang="en-IN" sz="3600" dirty="0">
              <a:solidFill>
                <a:srgbClr val="7030A0"/>
              </a:solidFill>
              <a:latin typeface="Times New Roman" panose="02020603050405020304" pitchFamily="18" charset="0"/>
              <a:cs typeface="Times New Roman" panose="02020603050405020304" pitchFamily="18" charset="0"/>
            </a:endParaRPr>
          </a:p>
        </p:txBody>
      </p:sp>
      <p:sp>
        <p:nvSpPr>
          <p:cNvPr id="19" name="Rounded Rectangle 1"/>
          <p:cNvSpPr>
            <a:spLocks noChangeArrowheads="1"/>
          </p:cNvSpPr>
          <p:nvPr/>
        </p:nvSpPr>
        <p:spPr bwMode="auto">
          <a:xfrm>
            <a:off x="1043410" y="188415"/>
            <a:ext cx="3025008" cy="663299"/>
          </a:xfrm>
          <a:prstGeom prst="roundRect">
            <a:avLst>
              <a:gd name="adj" fmla="val 16667"/>
            </a:avLst>
          </a:prstGeom>
          <a:no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2">
            <a:schemeClr val="accent2"/>
          </a:lnRef>
          <a:fillRef idx="1">
            <a:schemeClr val="lt1"/>
          </a:fillRef>
          <a:effectRef idx="0">
            <a:schemeClr val="accent2"/>
          </a:effectRef>
          <a:fontRef idx="minor">
            <a:schemeClr val="dk1"/>
          </a:fontRef>
        </p:style>
        <p:txBody>
          <a:bodyPr/>
          <a:lstStyle/>
          <a:p>
            <a:pPr>
              <a:buClr>
                <a:srgbClr val="000000"/>
              </a:buClr>
              <a:buSzPct val="100000"/>
            </a:pPr>
            <a:r>
              <a:rPr lang="en-US" altLang="en-US" sz="2400" b="1" dirty="0">
                <a:solidFill>
                  <a:schemeClr val="accent1">
                    <a:lumMod val="75000"/>
                  </a:schemeClr>
                </a:solidFill>
                <a:latin typeface="Times New Roman" panose="02020603050405020304" pitchFamily="18" charset="0"/>
                <a:cs typeface="Times New Roman" panose="02020603050405020304" pitchFamily="18" charset="0"/>
              </a:rPr>
              <a:t>Technology: Python</a:t>
            </a: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753733" y="54611"/>
            <a:ext cx="1400175" cy="528486"/>
          </a:xfrm>
          <a:prstGeom prst="rect">
            <a:avLst/>
          </a:prstGeom>
        </p:spPr>
      </p:pic>
    </p:spTree>
    <p:extLst>
      <p:ext uri="{BB962C8B-B14F-4D97-AF65-F5344CB8AC3E}">
        <p14:creationId xmlns:p14="http://schemas.microsoft.com/office/powerpoint/2010/main" val="4010762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0281" y="196828"/>
            <a:ext cx="8911687" cy="677815"/>
          </a:xfrm>
        </p:spPr>
        <p:txBody>
          <a:bodyPr>
            <a:normAutofit fontScale="90000"/>
          </a:bodyPr>
          <a:lstStyle/>
          <a:p>
            <a:pPr algn="ctr"/>
            <a:r>
              <a:rPr lang="en-US" sz="2400" b="1" dirty="0">
                <a:latin typeface="Times New Roman" panose="02020603050405020304" pitchFamily="18" charset="0"/>
                <a:cs typeface="Times New Roman" panose="02020603050405020304" pitchFamily="18" charset="0"/>
              </a:rPr>
              <a:t>INDEX</a:t>
            </a:r>
            <a:r>
              <a:rPr lang="en-US" altLang="en-US" sz="2400" b="1" dirty="0">
                <a:latin typeface="Times New Roman" panose="02020603050405020304" pitchFamily="18" charset="0"/>
                <a:cs typeface="Times New Roman" panose="02020603050405020304" pitchFamily="18" charset="0"/>
              </a:rPr>
              <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
        <p:nvSpPr>
          <p:cNvPr id="7" name="Content Placeholder 2"/>
          <p:cNvSpPr txBox="1">
            <a:spLocks/>
          </p:cNvSpPr>
          <p:nvPr/>
        </p:nvSpPr>
        <p:spPr>
          <a:xfrm>
            <a:off x="2246643" y="689113"/>
            <a:ext cx="8911687" cy="5972059"/>
          </a:xfrm>
          <a:prstGeom prst="rect">
            <a:avLst/>
          </a:prstGeom>
        </p:spPr>
        <p:txBody>
          <a:bodyPr vert="horz" lIns="91440" tIns="45720" rIns="91440" bIns="45720" numCol="2"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Abstract</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Literature review</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Existing Method</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Drawbacks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Proposed method				</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Advantages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Implementation</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Modules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Hardware and Software </a:t>
            </a:r>
            <a:r>
              <a:rPr lang="en-US" sz="2000" dirty="0" smtClean="0">
                <a:solidFill>
                  <a:schemeClr val="tx1">
                    <a:lumMod val="95000"/>
                    <a:lumOff val="5000"/>
                  </a:schemeClr>
                </a:solidFill>
                <a:latin typeface="Times New Roman" panose="02020603050405020304" pitchFamily="18" charset="0"/>
                <a:cs typeface="Times New Roman" panose="02020603050405020304" pitchFamily="18" charset="0"/>
              </a:rPr>
              <a:t>Requirements</a:t>
            </a:r>
          </a:p>
          <a:p>
            <a:pPr>
              <a:buFont typeface="Wingdings" panose="05000000000000000000" pitchFamily="2" charset="2"/>
              <a:buChar char="Ø"/>
            </a:pPr>
            <a:r>
              <a:rPr lang="en-US" sz="2000" dirty="0" smtClean="0">
                <a:solidFill>
                  <a:schemeClr val="tx1">
                    <a:lumMod val="95000"/>
                    <a:lumOff val="5000"/>
                  </a:schemeClr>
                </a:solidFill>
                <a:latin typeface="Times New Roman" panose="02020603050405020304" pitchFamily="18" charset="0"/>
                <a:cs typeface="Times New Roman" panose="02020603050405020304" pitchFamily="18" charset="0"/>
              </a:rPr>
              <a:t>Algorithms</a:t>
            </a:r>
          </a:p>
          <a:p>
            <a:pPr>
              <a:buFont typeface="Wingdings" panose="05000000000000000000" pitchFamily="2" charset="2"/>
              <a:buChar char="Ø"/>
            </a:pPr>
            <a:r>
              <a:rPr lang="en-US" sz="2000" dirty="0" smtClean="0">
                <a:solidFill>
                  <a:schemeClr val="tx1">
                    <a:lumMod val="95000"/>
                    <a:lumOff val="5000"/>
                  </a:schemeClr>
                </a:solidFill>
                <a:latin typeface="Times New Roman" panose="02020603050405020304" pitchFamily="18" charset="0"/>
                <a:cs typeface="Times New Roman" panose="02020603050405020304" pitchFamily="18" charset="0"/>
              </a:rPr>
              <a:t>UML Diagrams</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Results</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153147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0004" y="102709"/>
            <a:ext cx="8911687" cy="567604"/>
          </a:xfrm>
        </p:spPr>
        <p:txBody>
          <a:bodyPr>
            <a:normAutofit/>
          </a:bodyPr>
          <a:lstStyle/>
          <a:p>
            <a:pPr algn="ctr"/>
            <a:r>
              <a:rPr lang="en-US" sz="2400" b="1" dirty="0">
                <a:latin typeface="Times New Roman" panose="02020603050405020304" pitchFamily="18" charset="0"/>
                <a:cs typeface="Times New Roman" panose="02020603050405020304" pitchFamily="18" charset="0"/>
              </a:rPr>
              <a:t>ABSTRACT</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47532" y="683769"/>
            <a:ext cx="10507848" cy="5742789"/>
          </a:xfrm>
        </p:spPr>
        <p:txBody>
          <a:bodyPr>
            <a:no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Computer networks intrusion detection systems (IDSs) and intrusion prevention systems (IPSs) are critical aspects that contribute to the success of an organization. Over the past years, IDSs and IPSs using different approaches have been developed and implemented to ensure that computer networks within enterprises are secure, reliable and available. In this paper, we focus on IDSs that are built using machine learning (ML) techniques. IDSs based on ML methods are effective and accurate in detecting networks attacks. However, the performance of these systems decreases for high dimensional data spaces. Therefore, it is crucial to implement an appropriate feature extraction method that can prune some of the features that do not possess a great impact in the </a:t>
            </a:r>
            <a:r>
              <a:rPr lang="en-IN" sz="2000" dirty="0" err="1">
                <a:latin typeface="Times New Roman" panose="02020603050405020304" pitchFamily="18" charset="0"/>
                <a:cs typeface="Times New Roman" panose="02020603050405020304" pitchFamily="18" charset="0"/>
              </a:rPr>
              <a:t>classifcation</a:t>
            </a:r>
            <a:r>
              <a:rPr lang="en-IN" sz="2000" dirty="0">
                <a:latin typeface="Times New Roman" panose="02020603050405020304" pitchFamily="18" charset="0"/>
                <a:cs typeface="Times New Roman" panose="02020603050405020304" pitchFamily="18" charset="0"/>
              </a:rPr>
              <a:t> process. Moreover, many of the ML based IDSs suffer from an increase in false positive rate and a low detection accuracy when the models are trained on highly imbalanced datasets. In this paper, we present an analysis the UNSW-NB15 intrusion detection dataset that will be used for training and testing our models. </a:t>
            </a:r>
            <a:endParaRPr lang="en-IN" sz="18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672549" y="102709"/>
            <a:ext cx="1405221" cy="593327"/>
          </a:xfrm>
          <a:prstGeom prst="rect">
            <a:avLst/>
          </a:prstGeom>
        </p:spPr>
      </p:pic>
    </p:spTree>
    <p:extLst>
      <p:ext uri="{BB962C8B-B14F-4D97-AF65-F5344CB8AC3E}">
        <p14:creationId xmlns:p14="http://schemas.microsoft.com/office/powerpoint/2010/main" val="1807172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0462" y="569353"/>
            <a:ext cx="10225826" cy="4708981"/>
          </a:xfrm>
          <a:prstGeom prst="rect">
            <a:avLst/>
          </a:prstGeom>
        </p:spPr>
        <p:txBody>
          <a:bodyPr wrap="square">
            <a:spAutoFit/>
          </a:bodyPr>
          <a:lstStyle/>
          <a:p>
            <a:pPr algn="just">
              <a:lnSpc>
                <a:spcPct val="150000"/>
              </a:lnSpc>
            </a:pPr>
            <a:r>
              <a:rPr lang="en-IN" sz="2000" dirty="0" smtClean="0">
                <a:latin typeface="Times New Roman" panose="02020603050405020304" pitchFamily="18" charset="0"/>
                <a:cs typeface="Times New Roman" panose="02020603050405020304" pitchFamily="18" charset="0"/>
              </a:rPr>
              <a:t>Moreover, we apply a </a:t>
            </a:r>
            <a:r>
              <a:rPr lang="en-IN" sz="2000" dirty="0" err="1" smtClean="0">
                <a:latin typeface="Times New Roman" panose="02020603050405020304" pitchFamily="18" charset="0"/>
                <a:cs typeface="Times New Roman" panose="02020603050405020304" pitchFamily="18" charset="0"/>
              </a:rPr>
              <a:t>flter</a:t>
            </a:r>
            <a:r>
              <a:rPr lang="en-IN" sz="2000" dirty="0" smtClean="0">
                <a:latin typeface="Times New Roman" panose="02020603050405020304" pitchFamily="18" charset="0"/>
                <a:cs typeface="Times New Roman" panose="02020603050405020304" pitchFamily="18" charset="0"/>
              </a:rPr>
              <a:t>-based feature reduction technique using the XGBoost algorithm. We then implement the following ML approaches using the reduced feature space: Support Vector Machine (SVM), k-Nearest-Neighbour (</a:t>
            </a:r>
            <a:r>
              <a:rPr lang="en-IN" sz="2000" dirty="0">
                <a:latin typeface="Times New Roman" panose="02020603050405020304" pitchFamily="18" charset="0"/>
                <a:cs typeface="Times New Roman" panose="02020603050405020304" pitchFamily="18" charset="0"/>
              </a:rPr>
              <a:t>K</a:t>
            </a:r>
            <a:r>
              <a:rPr lang="en-IN" sz="2000" dirty="0" smtClean="0">
                <a:latin typeface="Times New Roman" panose="02020603050405020304" pitchFamily="18" charset="0"/>
                <a:cs typeface="Times New Roman" panose="02020603050405020304" pitchFamily="18" charset="0"/>
              </a:rPr>
              <a:t>NN), Logistic Regression (LR), Artifcial Neural Network (ANN) and Decision Tree (DT). In our experiments, we considered both the binary and multiclass classification configurations. The results demonstrated that the XGBoost-based feature selection method allows for methods such as the DT to increase its test accuracy for the binary classification scheme.</a:t>
            </a:r>
          </a:p>
          <a:p>
            <a:pPr algn="just">
              <a:lnSpc>
                <a:spcPct val="150000"/>
              </a:lnSpc>
            </a:pP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b="1" dirty="0" smtClean="0">
                <a:latin typeface="Times New Roman" panose="02020603050405020304" pitchFamily="18" charset="0"/>
                <a:cs typeface="Times New Roman" panose="02020603050405020304" pitchFamily="18" charset="0"/>
              </a:rPr>
              <a:t>Keywords: </a:t>
            </a:r>
            <a:r>
              <a:rPr lang="en-IN" sz="2000" dirty="0">
                <a:latin typeface="Times New Roman" panose="02020603050405020304" pitchFamily="18" charset="0"/>
                <a:cs typeface="Times New Roman" panose="02020603050405020304" pitchFamily="18" charset="0"/>
              </a:rPr>
              <a:t>Machine learning, Feature engineering, Computer networks, Intrusion detection</a:t>
            </a:r>
            <a:r>
              <a:rPr lang="en-IN" sz="2000" dirty="0" smtClean="0">
                <a:latin typeface="Times New Roman" panose="02020603050405020304" pitchFamily="18" charset="0"/>
                <a:cs typeface="Times New Roman" panose="02020603050405020304" pitchFamily="18" charset="0"/>
              </a:rPr>
              <a:t>.</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297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8300" y="449827"/>
            <a:ext cx="8911687" cy="1280890"/>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INTRODUCTION</a:t>
            </a:r>
            <a:r>
              <a:rPr lang="en-US" altLang="en-US" sz="2700" b="1" dirty="0">
                <a:latin typeface="Times New Roman" panose="02020603050405020304" pitchFamily="18" charset="0"/>
                <a:cs typeface="Times New Roman" panose="02020603050405020304" pitchFamily="18" charset="0"/>
              </a:rPr>
              <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024285" y="723331"/>
            <a:ext cx="10322002" cy="5832015"/>
          </a:xfrm>
        </p:spPr>
        <p:txBody>
          <a:bodyPr>
            <a:no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The rapid pace at which technologies such as the Internet, Internet-of-Tings (IoT) and communication systems is advancing has caused hackers to evolve with a higher velocity in terms of their capabilities. These criminals strive to discover new ways to compromise computer networks security. Therefore, Intrusion Detection Systems (IDSs) inherently become critical components in a computer network. An IDS is defend as a hardware or a software system that monitors an organization’s computer network for imminent and potential threats or attacks. Moreover, an IDS is capable of responding to any malicious transactions and report them accordingly. IDSs are categorized in 3 broad classes, namely, node or host based IDS (HIDS) network or distributed IDS (DIDS or NIDS) and Hybrid IDS (HYIDS) this </a:t>
            </a:r>
            <a:r>
              <a:rPr lang="en-IN" sz="2000" dirty="0" smtClean="0">
                <a:latin typeface="Times New Roman" panose="02020603050405020304" pitchFamily="18" charset="0"/>
                <a:cs typeface="Times New Roman" panose="02020603050405020304" pitchFamily="18" charset="0"/>
              </a:rPr>
              <a:t>classification </a:t>
            </a:r>
            <a:r>
              <a:rPr lang="en-IN" sz="2000" dirty="0">
                <a:latin typeface="Times New Roman" panose="02020603050405020304" pitchFamily="18" charset="0"/>
                <a:cs typeface="Times New Roman" panose="02020603050405020304" pitchFamily="18" charset="0"/>
              </a:rPr>
              <a:t>is based on the specific IDS operation philosophy. HIDS runs on a single node computer system and it is concerned with the security related to its host. In contrast, a DIDS runs on a distributed computer network and analyses the traffic at the network level for suspicious activities. </a:t>
            </a: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0549987" y="189850"/>
            <a:ext cx="1500489" cy="533481"/>
          </a:xfrm>
          <a:prstGeom prst="rect">
            <a:avLst/>
          </a:prstGeom>
        </p:spPr>
      </p:pic>
    </p:spTree>
    <p:extLst>
      <p:ext uri="{BB962C8B-B14F-4D97-AF65-F5344CB8AC3E}">
        <p14:creationId xmlns:p14="http://schemas.microsoft.com/office/powerpoint/2010/main" val="2856396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490" y="463639"/>
            <a:ext cx="10792496" cy="6044603"/>
          </a:xfrm>
          <a:prstGeom prst="rect">
            <a:avLst/>
          </a:prstGeom>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A signature-based IDS uses an existing data store of previously intercepted attacks in order to detect intrusions. In contrast, an anomaly-based IDS is concerned with the behaviour of the network. It constantly checks for activities that constitute unusual behaviour and fags them. Finally, hybrid based IDS is a combination of both anomaly-based and signature-based IDSs. The primary philosophical design goal of an IDS is to minimise instances of false positive alarms and to increase its detection accuracy. Therefore, the design and implementation of any IDS must take that philosophy in consideration. In recent years, Machine Learning (ML) based IDSs have emerged as the leading systems in the intrusion detection research domain. ML gives systems the ability of learning and improving by using previous data. In other words, ML based computer programs do not need to be explicitly engineered (programmed). They are capable of learning by themselves [8]. Broadly speaking, there exist the following sorts of ML philosophies, namely, supervised ML and unsupervised ML. In the case of supervised ML, models are learned using data that is labelled. In the instance of unsupervised ML, the data that is used to train models is unstructured (unlabelled). </a:t>
            </a:r>
          </a:p>
        </p:txBody>
      </p:sp>
    </p:spTree>
    <p:extLst>
      <p:ext uri="{BB962C8B-B14F-4D97-AF65-F5344CB8AC3E}">
        <p14:creationId xmlns:p14="http://schemas.microsoft.com/office/powerpoint/2010/main" val="167987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2866" y="245111"/>
            <a:ext cx="8802955" cy="628346"/>
          </a:xfrm>
        </p:spPr>
        <p:txBody>
          <a:bodyPr>
            <a:normAutofit fontScale="90000"/>
          </a:bodyPr>
          <a:lstStyle/>
          <a:p>
            <a:pPr algn="ctr"/>
            <a:r>
              <a:rPr lang="en-US" sz="2700" b="1" dirty="0">
                <a:latin typeface="Times New Roman" panose="02020603050405020304" pitchFamily="18" charset="0"/>
                <a:cs typeface="Times New Roman" panose="02020603050405020304" pitchFamily="18" charset="0"/>
              </a:rPr>
              <a:t>LITERATURE REVIEW</a:t>
            </a:r>
            <a:r>
              <a:rPr lang="en-US" altLang="en-US" b="1" dirty="0">
                <a:latin typeface="Times New Roman" panose="02020603050405020304" pitchFamily="18" charset="0"/>
                <a:cs typeface="Times New Roman" panose="02020603050405020304" pitchFamily="18" charset="0"/>
              </a:rPr>
              <a:t/>
            </a:r>
            <a:br>
              <a:rPr lang="en-US" altLang="en-US"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r>
            <a:br>
              <a:rPr lang="en-US" altLang="en-US" dirty="0">
                <a:latin typeface="Times New Roman" panose="02020603050405020304" pitchFamily="18" charset="0"/>
                <a:cs typeface="Times New Roman" panose="02020603050405020304" pitchFamily="18" charset="0"/>
              </a:rPr>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74568609"/>
              </p:ext>
            </p:extLst>
          </p:nvPr>
        </p:nvGraphicFramePr>
        <p:xfrm>
          <a:off x="805218" y="641445"/>
          <a:ext cx="10970015" cy="5697748"/>
        </p:xfrm>
        <a:graphic>
          <a:graphicData uri="http://schemas.openxmlformats.org/drawingml/2006/table">
            <a:tbl>
              <a:tblPr firstRow="1" bandRow="1">
                <a:tableStyleId>{5940675A-B579-460E-94D1-54222C63F5DA}</a:tableStyleId>
              </a:tblPr>
              <a:tblGrid>
                <a:gridCol w="597296">
                  <a:extLst>
                    <a:ext uri="{9D8B030D-6E8A-4147-A177-3AD203B41FA5}">
                      <a16:colId xmlns:a16="http://schemas.microsoft.com/office/drawing/2014/main" xmlns="" val="20000"/>
                    </a:ext>
                  </a:extLst>
                </a:gridCol>
                <a:gridCol w="2364268">
                  <a:extLst>
                    <a:ext uri="{9D8B030D-6E8A-4147-A177-3AD203B41FA5}">
                      <a16:colId xmlns:a16="http://schemas.microsoft.com/office/drawing/2014/main" xmlns="" val="20001"/>
                    </a:ext>
                  </a:extLst>
                </a:gridCol>
                <a:gridCol w="2019869">
                  <a:extLst>
                    <a:ext uri="{9D8B030D-6E8A-4147-A177-3AD203B41FA5}">
                      <a16:colId xmlns:a16="http://schemas.microsoft.com/office/drawing/2014/main" xmlns="" val="20002"/>
                    </a:ext>
                  </a:extLst>
                </a:gridCol>
                <a:gridCol w="2306471">
                  <a:extLst>
                    <a:ext uri="{9D8B030D-6E8A-4147-A177-3AD203B41FA5}">
                      <a16:colId xmlns:a16="http://schemas.microsoft.com/office/drawing/2014/main" xmlns="" val="20003"/>
                    </a:ext>
                  </a:extLst>
                </a:gridCol>
                <a:gridCol w="3682111">
                  <a:extLst>
                    <a:ext uri="{9D8B030D-6E8A-4147-A177-3AD203B41FA5}">
                      <a16:colId xmlns:a16="http://schemas.microsoft.com/office/drawing/2014/main" xmlns="" val="20004"/>
                    </a:ext>
                  </a:extLst>
                </a:gridCol>
              </a:tblGrid>
              <a:tr h="568746">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S. No</a:t>
                      </a: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Journal Type </a:t>
                      </a:r>
                      <a:r>
                        <a:rPr lang="en-US" sz="1600" b="1" baseline="0" dirty="0">
                          <a:solidFill>
                            <a:srgbClr val="00B0F0"/>
                          </a:solidFill>
                          <a:latin typeface="Times New Roman" panose="02020603050405020304" pitchFamily="18" charset="0"/>
                          <a:cs typeface="Times New Roman" panose="02020603050405020304" pitchFamily="18" charset="0"/>
                        </a:rPr>
                        <a:t>with year</a:t>
                      </a:r>
                      <a:endParaRPr lang="en-US" sz="1600" b="1" dirty="0">
                        <a:solidFill>
                          <a:srgbClr val="00B0F0"/>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Authors</a:t>
                      </a: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Title</a:t>
                      </a:r>
                    </a:p>
                  </a:txBody>
                  <a:tcPr anchor="ctr"/>
                </a:tc>
                <a:tc>
                  <a:txBody>
                    <a:bodyPr/>
                    <a:lstStyle/>
                    <a:p>
                      <a:pPr algn="ctr"/>
                      <a:r>
                        <a:rPr lang="en-US" sz="1600" b="1" dirty="0">
                          <a:solidFill>
                            <a:srgbClr val="00B0F0"/>
                          </a:solidFill>
                          <a:latin typeface="Times New Roman" panose="02020603050405020304" pitchFamily="18" charset="0"/>
                          <a:cs typeface="Times New Roman" panose="02020603050405020304" pitchFamily="18" charset="0"/>
                        </a:rPr>
                        <a:t>Outcomes</a:t>
                      </a:r>
                    </a:p>
                  </a:txBody>
                  <a:tcPr anchor="ctr"/>
                </a:tc>
                <a:extLst>
                  <a:ext uri="{0D108BD9-81ED-4DB2-BD59-A6C34878D82A}">
                    <a16:rowId xmlns:a16="http://schemas.microsoft.com/office/drawing/2014/main" xmlns="" val="10000"/>
                  </a:ext>
                </a:extLst>
              </a:tr>
              <a:tr h="1269526">
                <a:tc>
                  <a:txBody>
                    <a:bodyPr/>
                    <a:lstStyle/>
                    <a:p>
                      <a:pPr algn="ctr"/>
                      <a:r>
                        <a:rPr lang="en-US" sz="1600" b="0" dirty="0">
                          <a:latin typeface="Times New Roman" panose="02020603050405020304" pitchFamily="18" charset="0"/>
                          <a:cs typeface="Times New Roman" panose="02020603050405020304" pitchFamily="18" charset="0"/>
                        </a:rPr>
                        <a:t>1</a:t>
                      </a:r>
                    </a:p>
                  </a:txBody>
                  <a:tcPr anchor="ctr"/>
                </a:tc>
                <a:tc>
                  <a:txBody>
                    <a:bodyPr/>
                    <a:lstStyle/>
                    <a:p>
                      <a:pPr algn="ctr"/>
                      <a:r>
                        <a:rPr lang="en-IN" sz="1400" b="0" i="0" kern="1200" dirty="0" smtClean="0">
                          <a:solidFill>
                            <a:schemeClr val="tx1"/>
                          </a:solidFill>
                          <a:effectLst/>
                          <a:latin typeface="Times New Roman" panose="02020603050405020304" pitchFamily="18" charset="0"/>
                          <a:ea typeface="+mn-ea"/>
                          <a:cs typeface="Times New Roman" panose="02020603050405020304" pitchFamily="18" charset="0"/>
                        </a:rPr>
                        <a:t>IEEE, 2020</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Ribeiro</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J,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Saghezchi</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FB, Mantas G, Rodriguez J,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Abd-Alhameed</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RA</a:t>
                      </a:r>
                      <a:endParaRPr lang="en-US" sz="1400" b="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Hidroid</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prototyping a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behavioral</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host-based intrusion detection and prevention system for android</a:t>
                      </a:r>
                      <a:endParaRPr lang="en-US" sz="1400" b="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 this paper, we develop a novel Host-based IDPS for Android (HIDROID), which runs completely on a mobile device, with a minimal computation burden</a:t>
                      </a:r>
                      <a:endParaRPr lang="en-IN"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xmlns="" val="10001"/>
                  </a:ext>
                </a:extLst>
              </a:tr>
              <a:tr h="1269526">
                <a:tc>
                  <a:txBody>
                    <a:bodyPr/>
                    <a:lstStyle/>
                    <a:p>
                      <a:pPr algn="ctr"/>
                      <a:r>
                        <a:rPr lang="en-US" sz="1600" b="0" dirty="0">
                          <a:latin typeface="Times New Roman" panose="02020603050405020304" pitchFamily="18" charset="0"/>
                          <a:cs typeface="Times New Roman" panose="02020603050405020304" pitchFamily="18" charset="0"/>
                        </a:rPr>
                        <a:t>2</a:t>
                      </a:r>
                    </a:p>
                  </a:txBody>
                  <a:tcPr anchor="ctr"/>
                </a:tc>
                <a:tc>
                  <a:txBody>
                    <a:bodyPr/>
                    <a:lstStyle/>
                    <a:p>
                      <a:pPr algn="ctr"/>
                      <a:r>
                        <a:rPr lang="en-US" sz="1400" b="0" dirty="0" smtClean="0">
                          <a:latin typeface="Times New Roman" panose="02020603050405020304" pitchFamily="18" charset="0"/>
                          <a:cs typeface="Times New Roman" panose="02020603050405020304" pitchFamily="18" charset="0"/>
                        </a:rPr>
                        <a:t>IEEE, 2015</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Van NTT,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Thinh</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TN</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Accelerating anomaly-based IDS using neural network on GPU</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 this paper, we used Neural Network technology to classify normal or abnormal behaviours.</a:t>
                      </a:r>
                      <a:endParaRPr lang="en-IN" sz="1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2"/>
                  </a:ext>
                </a:extLst>
              </a:tr>
              <a:tr h="1314015">
                <a:tc>
                  <a:txBody>
                    <a:bodyPr/>
                    <a:lstStyle/>
                    <a:p>
                      <a:pPr algn="ctr"/>
                      <a:r>
                        <a:rPr lang="en-US" sz="1600" b="0" dirty="0">
                          <a:latin typeface="Times New Roman" panose="02020603050405020304" pitchFamily="18" charset="0"/>
                          <a:cs typeface="Times New Roman" panose="02020603050405020304" pitchFamily="18" charset="0"/>
                        </a:rPr>
                        <a:t>3</a:t>
                      </a:r>
                    </a:p>
                  </a:txBody>
                  <a:tcPr anchor="ctr"/>
                </a:tc>
                <a:tc>
                  <a:txBody>
                    <a:bodyPr/>
                    <a:lstStyle/>
                    <a:p>
                      <a:pPr algn="ctr"/>
                      <a:r>
                        <a:rPr lang="en-US" sz="1400" b="0" dirty="0" smtClean="0">
                          <a:latin typeface="Times New Roman" panose="02020603050405020304" pitchFamily="18" charset="0"/>
                          <a:cs typeface="Times New Roman" panose="02020603050405020304" pitchFamily="18" charset="0"/>
                        </a:rPr>
                        <a:t>Journal, 2015</a:t>
                      </a:r>
                      <a:endParaRPr lang="en-IN" sz="14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Jabez</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J, </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Muthukumar</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B</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Intrusion detection system (IDS): anomaly detection using outlier detection approach</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This research work proposed a new approach called outlier detection where, the anomaly dataset is measured by the Neighbourhood Outlier Factor (NOF)</a:t>
                      </a:r>
                      <a:endParaRPr lang="en-US" sz="1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3"/>
                  </a:ext>
                </a:extLst>
              </a:tr>
              <a:tr h="1265561">
                <a:tc>
                  <a:txBody>
                    <a:bodyPr/>
                    <a:lstStyle/>
                    <a:p>
                      <a:pPr algn="ctr"/>
                      <a:r>
                        <a:rPr lang="en-US" sz="1600" b="0" dirty="0">
                          <a:latin typeface="Times New Roman" panose="02020603050405020304" pitchFamily="18" charset="0"/>
                          <a:cs typeface="Times New Roman" panose="02020603050405020304" pitchFamily="18" charset="0"/>
                        </a:rPr>
                        <a:t>4</a:t>
                      </a:r>
                    </a:p>
                  </a:txBody>
                  <a:tcPr anchor="ctr"/>
                </a:tc>
                <a:tc>
                  <a:txBody>
                    <a:bodyPr/>
                    <a:lstStyle/>
                    <a:p>
                      <a:pPr algn="ctr"/>
                      <a:r>
                        <a:rPr lang="en-US" sz="1400" b="0" kern="1200" dirty="0" smtClean="0">
                          <a:solidFill>
                            <a:schemeClr val="tx1"/>
                          </a:solidFill>
                          <a:effectLst/>
                          <a:latin typeface="Times New Roman" panose="02020603050405020304" pitchFamily="18" charset="0"/>
                          <a:ea typeface="+mn-ea"/>
                          <a:cs typeface="Times New Roman" panose="02020603050405020304" pitchFamily="18" charset="0"/>
                        </a:rPr>
                        <a:t>ICDCN, 2009</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Neelakantan</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S, Rao S.</a:t>
                      </a:r>
                      <a:endParaRPr lang="pt-BR" sz="1400" b="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A threat-aware anomaly-based intrusion-detection approach for obtaining network-</a:t>
                      </a:r>
                      <a:r>
                        <a:rPr lang="en-IN" sz="1400" b="0" kern="1200" dirty="0" err="1" smtClean="0">
                          <a:solidFill>
                            <a:schemeClr val="tx1"/>
                          </a:solidFill>
                          <a:effectLst/>
                          <a:latin typeface="Times New Roman" panose="02020603050405020304" pitchFamily="18" charset="0"/>
                          <a:ea typeface="+mn-ea"/>
                          <a:cs typeface="Times New Roman" panose="02020603050405020304" pitchFamily="18" charset="0"/>
                        </a:rPr>
                        <a:t>specifc</a:t>
                      </a: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 useful alarms</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400" b="0" kern="1200" dirty="0" smtClean="0">
                          <a:solidFill>
                            <a:schemeClr val="tx1"/>
                          </a:solidFill>
                          <a:effectLst/>
                          <a:latin typeface="Times New Roman" panose="02020603050405020304" pitchFamily="18" charset="0"/>
                          <a:ea typeface="+mn-ea"/>
                          <a:cs typeface="Times New Roman" panose="02020603050405020304" pitchFamily="18" charset="0"/>
                        </a:rPr>
                        <a:t>In this paper, we present a Threat-Aware Anomaly-Based IDS model for obtaining network-specific useful alarms</a:t>
                      </a:r>
                      <a:endParaRPr lang="en-US" sz="1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4"/>
                  </a:ext>
                </a:extLst>
              </a:tr>
            </a:tbl>
          </a:graphicData>
        </a:graphic>
      </p:graphicFrame>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0495128" y="111878"/>
            <a:ext cx="1541699" cy="529567"/>
          </a:xfrm>
          <a:prstGeom prst="rect">
            <a:avLst/>
          </a:prstGeom>
        </p:spPr>
      </p:pic>
    </p:spTree>
    <p:extLst>
      <p:ext uri="{BB962C8B-B14F-4D97-AF65-F5344CB8AC3E}">
        <p14:creationId xmlns:p14="http://schemas.microsoft.com/office/powerpoint/2010/main" val="3012528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4748" y="282168"/>
            <a:ext cx="8911687" cy="670869"/>
          </a:xfrm>
        </p:spPr>
        <p:txBody>
          <a:bodyPr>
            <a:normAutofit/>
          </a:bodyPr>
          <a:lstStyle/>
          <a:p>
            <a:pPr algn="ctr"/>
            <a:r>
              <a:rPr lang="en-US" sz="2400" b="1" dirty="0">
                <a:latin typeface="Times New Roman" panose="02020603050405020304" pitchFamily="18" charset="0"/>
                <a:cs typeface="Times New Roman" panose="02020603050405020304" pitchFamily="18" charset="0"/>
              </a:rPr>
              <a:t>EXISTING </a:t>
            </a:r>
            <a:r>
              <a:rPr lang="en-US" sz="2400" b="1" dirty="0" smtClean="0">
                <a:latin typeface="Times New Roman" panose="02020603050405020304" pitchFamily="18" charset="0"/>
                <a:cs typeface="Times New Roman" panose="02020603050405020304" pitchFamily="18" charset="0"/>
              </a:rPr>
              <a:t>METHOD</a:t>
            </a:r>
            <a:endParaRPr lang="en-US"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76227" y="1264555"/>
            <a:ext cx="9889052" cy="5593445"/>
          </a:xfrm>
        </p:spPr>
        <p:txBody>
          <a:bodyPr>
            <a:norm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The increasing growth of machine learning, computer techniques divided into traditional methods and machine learning methods. This section describes the related works of performance of Intrusion Detection</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systems and how machine learning methods are better than traditional methods. The existing method in this project have a certain flow is used for model development. SVM and ANN are used algorithms in existing system. But it requires large memory and result is not accurate</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lgn="just">
              <a:lnSpc>
                <a:spcPct val="150000"/>
              </a:lnSpc>
              <a:spcAft>
                <a:spcPts val="800"/>
              </a:spcAft>
              <a:buNone/>
            </a:pPr>
            <a:r>
              <a:rPr lang="en-IN" sz="2000" b="1" dirty="0" smtClean="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IN" sz="20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Accuracy low</a:t>
            </a:r>
          </a:p>
          <a:p>
            <a:pPr algn="just">
              <a:lnSpc>
                <a:spcPct val="150000"/>
              </a:lnSpc>
            </a:pPr>
            <a:r>
              <a:rPr lang="en-IN" sz="2000" dirty="0">
                <a:latin typeface="Times New Roman" panose="02020603050405020304" pitchFamily="18" charset="0"/>
                <a:cs typeface="Times New Roman" panose="02020603050405020304" pitchFamily="18" charset="0"/>
              </a:rPr>
              <a:t>Requires more </a:t>
            </a:r>
            <a:r>
              <a:rPr lang="en-IN" sz="2000" dirty="0" smtClean="0">
                <a:latin typeface="Times New Roman" panose="02020603050405020304" pitchFamily="18" charset="0"/>
                <a:cs typeface="Times New Roman" panose="02020603050405020304" pitchFamily="18" charset="0"/>
              </a:rPr>
              <a:t>time</a:t>
            </a:r>
          </a:p>
          <a:p>
            <a:pPr algn="just">
              <a:lnSpc>
                <a:spcPct val="150000"/>
              </a:lnSpc>
            </a:pPr>
            <a:r>
              <a:rPr lang="en-IN" sz="2000" dirty="0">
                <a:latin typeface="Times New Roman" panose="02020603050405020304" pitchFamily="18" charset="0"/>
                <a:cs typeface="Times New Roman" panose="02020603050405020304" pitchFamily="18" charset="0"/>
              </a:rPr>
              <a:t>D</a:t>
            </a:r>
            <a:r>
              <a:rPr lang="en-IN" sz="2000" smtClean="0">
                <a:latin typeface="Times New Roman" panose="02020603050405020304" pitchFamily="18" charset="0"/>
                <a:cs typeface="Times New Roman" panose="02020603050405020304" pitchFamily="18" charset="0"/>
              </a:rPr>
              <a:t>ifficult </a:t>
            </a:r>
            <a:r>
              <a:rPr lang="en-IN" sz="2000" dirty="0">
                <a:latin typeface="Times New Roman" panose="02020603050405020304" pitchFamily="18" charset="0"/>
                <a:cs typeface="Times New Roman" panose="02020603050405020304" pitchFamily="18" charset="0"/>
              </a:rPr>
              <a:t>to handle </a:t>
            </a: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466435" y="71867"/>
            <a:ext cx="1597689" cy="555929"/>
          </a:xfrm>
          <a:prstGeom prst="rect">
            <a:avLst/>
          </a:prstGeom>
        </p:spPr>
      </p:pic>
    </p:spTree>
    <p:extLst>
      <p:ext uri="{BB962C8B-B14F-4D97-AF65-F5344CB8AC3E}">
        <p14:creationId xmlns:p14="http://schemas.microsoft.com/office/powerpoint/2010/main" val="3769104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691BA666-3D94-41B6-BDDB-B52A51EF2747}"/>
              </a:ext>
            </a:extLst>
          </p:cNvPr>
          <p:cNvSpPr>
            <a:spLocks noGrp="1"/>
          </p:cNvSpPr>
          <p:nvPr>
            <p:ph type="title"/>
          </p:nvPr>
        </p:nvSpPr>
        <p:spPr>
          <a:xfrm>
            <a:off x="1069890" y="-174990"/>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METHOD</a:t>
            </a:r>
            <a:r>
              <a:rPr lang="en-US" altLang="en-US" sz="2400" b="1" dirty="0">
                <a:latin typeface="Times New Roman" panose="02020603050405020304" pitchFamily="18" charset="0"/>
                <a:cs typeface="Times New Roman" panose="02020603050405020304" pitchFamily="18" charset="0"/>
              </a:rPr>
              <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8272F5E9-D371-48AC-9F12-9755D3AE1521}"/>
              </a:ext>
            </a:extLst>
          </p:cNvPr>
          <p:cNvSpPr>
            <a:spLocks noGrp="1"/>
          </p:cNvSpPr>
          <p:nvPr>
            <p:ph idx="1"/>
          </p:nvPr>
        </p:nvSpPr>
        <p:spPr>
          <a:xfrm>
            <a:off x="1069890" y="465455"/>
            <a:ext cx="9692309" cy="5870951"/>
          </a:xfrm>
        </p:spPr>
        <p:txBody>
          <a:bodyPr>
            <a:noAutofit/>
          </a:bodyPr>
          <a:lstStyle/>
          <a:p>
            <a:pPr marL="0" indent="0" algn="just">
              <a:lnSpc>
                <a:spcPct val="150000"/>
              </a:lnSpc>
              <a:buNone/>
            </a:pPr>
            <a:r>
              <a:rPr lang="en-IN" sz="2000" dirty="0">
                <a:latin typeface="Times New Roman" panose="02020603050405020304" pitchFamily="18" charset="0"/>
                <a:cs typeface="Times New Roman" panose="02020603050405020304" pitchFamily="18" charset="0"/>
              </a:rPr>
              <a:t>Much research has been done on studying performance analysis of intrusion detection of systems. In early days if have to check the system performance it’s a time taking process. We can detect the system performance by using Decision tree, KNN (K-Nearest Neighbour), LG (Logistic Regression), Decision Tree,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To get better accuracy we used Decision Tree algorithm. Bu using these machine learning techniques we can easily detect the system performance like weather the system is attacked or not</a:t>
            </a:r>
            <a:r>
              <a:rPr lang="en-IN"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0" indent="0" algn="just">
              <a:lnSpc>
                <a:spcPct val="150000"/>
              </a:lnSpc>
              <a:spcAft>
                <a:spcPts val="800"/>
              </a:spcAft>
              <a:buNone/>
            </a:pPr>
            <a:r>
              <a:rPr lang="en-US" sz="2000" b="1" dirty="0" smtClean="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Advantages:</a:t>
            </a:r>
          </a:p>
          <a:p>
            <a:pPr>
              <a:lnSpc>
                <a:spcPct val="150000"/>
              </a:lnSpc>
            </a:pPr>
            <a:r>
              <a:rPr lang="en-IN" sz="2000" dirty="0">
                <a:latin typeface="Times New Roman" panose="02020603050405020304" pitchFamily="18" charset="0"/>
                <a:cs typeface="Times New Roman" panose="02020603050405020304" pitchFamily="18" charset="0"/>
              </a:rPr>
              <a:t>Requires less time </a:t>
            </a:r>
          </a:p>
          <a:p>
            <a:pPr>
              <a:lnSpc>
                <a:spcPct val="150000"/>
              </a:lnSpc>
            </a:pPr>
            <a:r>
              <a:rPr lang="en-IN" sz="2000" dirty="0" smtClean="0">
                <a:latin typeface="Times New Roman" panose="02020603050405020304" pitchFamily="18" charset="0"/>
                <a:cs typeface="Times New Roman" panose="02020603050405020304" pitchFamily="18" charset="0"/>
              </a:rPr>
              <a:t>Good </a:t>
            </a:r>
            <a:r>
              <a:rPr lang="en-IN" sz="2000" dirty="0">
                <a:latin typeface="Times New Roman" panose="02020603050405020304" pitchFamily="18" charset="0"/>
                <a:cs typeface="Times New Roman" panose="02020603050405020304" pitchFamily="18" charset="0"/>
              </a:rPr>
              <a:t>Accuracy</a:t>
            </a:r>
          </a:p>
          <a:p>
            <a:pPr>
              <a:lnSpc>
                <a:spcPct val="150000"/>
              </a:lnSpc>
            </a:pPr>
            <a:r>
              <a:rPr lang="en-IN" sz="2000" dirty="0" smtClean="0">
                <a:latin typeface="Times New Roman" panose="02020603050405020304" pitchFamily="18" charset="0"/>
                <a:cs typeface="Times New Roman" panose="02020603050405020304" pitchFamily="18" charset="0"/>
              </a:rPr>
              <a:t>Easy </a:t>
            </a:r>
            <a:r>
              <a:rPr lang="en-IN" sz="2000" dirty="0">
                <a:latin typeface="Times New Roman" panose="02020603050405020304" pitchFamily="18" charset="0"/>
                <a:cs typeface="Times New Roman" panose="02020603050405020304" pitchFamily="18" charset="0"/>
              </a:rPr>
              <a:t>to handle</a:t>
            </a:r>
          </a:p>
          <a:p>
            <a:pPr marL="0" indent="0" algn="just">
              <a:lnSpc>
                <a:spcPct val="150000"/>
              </a:lnSpc>
              <a:spcAft>
                <a:spcPts val="800"/>
              </a:spcAft>
              <a:buNone/>
            </a:pPr>
            <a:endParaRPr lang="en-IN" sz="2000" dirty="0" smtClean="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2080086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5530" y="296563"/>
            <a:ext cx="8911687" cy="590542"/>
          </a:xfrm>
        </p:spPr>
        <p:txBody>
          <a:bodyPr>
            <a:normAutofit/>
          </a:bodyPr>
          <a:lstStyle/>
          <a:p>
            <a:pPr algn="ctr"/>
            <a:r>
              <a:rPr lang="en-US" sz="2400" b="1" dirty="0">
                <a:latin typeface="Times New Roman" panose="02020603050405020304" pitchFamily="18" charset="0"/>
                <a:cs typeface="Times New Roman" panose="02020603050405020304" pitchFamily="18" charset="0"/>
              </a:rPr>
              <a:t>BLOCK DIAGRAM</a:t>
            </a:r>
          </a:p>
        </p:txBody>
      </p:sp>
      <p:pic>
        <p:nvPicPr>
          <p:cNvPr id="5" name="Picture 4"/>
          <p:cNvPicPr/>
          <p:nvPr/>
        </p:nvPicPr>
        <p:blipFill>
          <a:blip r:embed="rId2"/>
          <a:stretch>
            <a:fillRect/>
          </a:stretch>
        </p:blipFill>
        <p:spPr>
          <a:xfrm>
            <a:off x="3230245" y="816610"/>
            <a:ext cx="5731510" cy="5224780"/>
          </a:xfrm>
          <a:prstGeom prst="rect">
            <a:avLst/>
          </a:prstGeom>
        </p:spPr>
      </p:pic>
    </p:spTree>
    <p:extLst>
      <p:ext uri="{BB962C8B-B14F-4D97-AF65-F5344CB8AC3E}">
        <p14:creationId xmlns:p14="http://schemas.microsoft.com/office/powerpoint/2010/main" val="360188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262" y="282916"/>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ARCHITECTURE</a:t>
            </a:r>
          </a:p>
        </p:txBody>
      </p:sp>
      <p:pic>
        <p:nvPicPr>
          <p:cNvPr id="7" name="Content Placeholder 6"/>
          <p:cNvPicPr>
            <a:picLocks noGrp="1" noChangeAspect="1"/>
          </p:cNvPicPr>
          <p:nvPr>
            <p:ph idx="1"/>
          </p:nvPr>
        </p:nvPicPr>
        <p:blipFill>
          <a:blip r:embed="rId2"/>
          <a:stretch>
            <a:fillRect/>
          </a:stretch>
        </p:blipFill>
        <p:spPr>
          <a:xfrm>
            <a:off x="4865368" y="2133600"/>
            <a:ext cx="4363089" cy="3778250"/>
          </a:xfrm>
          <a:prstGeom prst="rect">
            <a:avLst/>
          </a:prstGeom>
        </p:spPr>
      </p:pic>
    </p:spTree>
    <p:extLst>
      <p:ext uri="{BB962C8B-B14F-4D97-AF65-F5344CB8AC3E}">
        <p14:creationId xmlns:p14="http://schemas.microsoft.com/office/powerpoint/2010/main" val="1549260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6388" y="552459"/>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IMPLEMENTATION</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38334" y="1833349"/>
            <a:ext cx="8915400" cy="3777622"/>
          </a:xfrm>
        </p:spPr>
        <p:txBody>
          <a:bodyPr>
            <a:normAutofit fontScale="47500" lnSpcReduction="20000"/>
          </a:bodyPr>
          <a:lstStyle/>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First we have taken the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UNSW_NB15 of </a:t>
            </a:r>
            <a:r>
              <a:rPr lang="en-US" sz="3600" dirty="0">
                <a:latin typeface="Times New Roman" panose="02020603050405020304" pitchFamily="18" charset="0"/>
                <a:ea typeface="Calibri" panose="020F0502020204030204" pitchFamily="34" charset="0"/>
                <a:cs typeface="Times New Roman" panose="02020603050405020304" pitchFamily="18" charset="0"/>
              </a:rPr>
              <a:t>CSV file.</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Load the dataset into work environment and made a check for null values if any.</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After checking the null values split the data in to train data and test data.</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After splitting apply the algorithm and fit the train data and test data.</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We got the best accuracy score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of</a:t>
            </a:r>
            <a:r>
              <a:rPr lang="en-IN" sz="3600" dirty="0" smtClean="0">
                <a:latin typeface="Times New Roman" panose="02020603050405020304" pitchFamily="18" charset="0"/>
                <a:cs typeface="Times New Roman" panose="02020603050405020304" pitchFamily="18" charset="0"/>
              </a:rPr>
              <a:t> </a:t>
            </a:r>
            <a:r>
              <a:rPr lang="en-IN" sz="3600" dirty="0">
                <a:latin typeface="Times New Roman" panose="02020603050405020304" pitchFamily="18" charset="0"/>
                <a:cs typeface="Times New Roman" panose="02020603050405020304" pitchFamily="18" charset="0"/>
              </a:rPr>
              <a:t>Decision Tree</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Later, the entire work is done with flask framework</a:t>
            </a:r>
          </a:p>
          <a:p>
            <a:pPr marL="342900" marR="0" lvl="0" indent="-342900" algn="just">
              <a:lnSpc>
                <a:spcPct val="150000"/>
              </a:lnSpc>
              <a:spcBef>
                <a:spcPts val="0"/>
              </a:spcBef>
              <a:spcAft>
                <a:spcPts val="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User can view the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Home</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About</a:t>
            </a:r>
            <a:r>
              <a:rPr lang="en-US" sz="3600" dirty="0">
                <a:latin typeface="Times New Roman" panose="02020603050405020304" pitchFamily="18" charset="0"/>
                <a:ea typeface="Calibri" panose="020F0502020204030204" pitchFamily="34" charset="0"/>
                <a:cs typeface="Times New Roman" panose="02020603050405020304" pitchFamily="18" charset="0"/>
              </a:rPr>
              <a:t>, Login, R</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egistration, User home page, Upload page, View page, Preprocessing, Model training, Prediction and Graph.</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Symbol" panose="05050102010706020507" pitchFamily="18" charset="2"/>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After detection, we will get to know that whether the Performance Analysis of Intrusion Detection Systems </a:t>
            </a:r>
            <a:r>
              <a:rPr lang="en-US" sz="3600" dirty="0" smtClean="0">
                <a:latin typeface="Times New Roman" panose="02020603050405020304" pitchFamily="18" charset="0"/>
                <a:ea typeface="Calibri" panose="020F0502020204030204" pitchFamily="34" charset="0"/>
                <a:cs typeface="Times New Roman" panose="02020603050405020304" pitchFamily="18" charset="0"/>
              </a:rPr>
              <a:t>is Attacked are Not.</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3600"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791825" y="0"/>
            <a:ext cx="1400175" cy="465455"/>
          </a:xfrm>
          <a:prstGeom prst="rect">
            <a:avLst/>
          </a:prstGeom>
        </p:spPr>
      </p:pic>
    </p:spTree>
    <p:extLst>
      <p:ext uri="{BB962C8B-B14F-4D97-AF65-F5344CB8AC3E}">
        <p14:creationId xmlns:p14="http://schemas.microsoft.com/office/powerpoint/2010/main" val="2335724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640156" y="449827"/>
            <a:ext cx="8911687" cy="895201"/>
          </a:xfrm>
        </p:spPr>
        <p:txBody>
          <a:bodyPr>
            <a:normAutofit/>
          </a:bodyPr>
          <a:lstStyle/>
          <a:p>
            <a:pPr algn="ctr"/>
            <a:r>
              <a:rPr lang="en-US" sz="2400" b="1" dirty="0">
                <a:latin typeface="Times New Roman" panose="02020603050405020304" pitchFamily="18" charset="0"/>
                <a:cs typeface="Times New Roman" panose="02020603050405020304" pitchFamily="18" charset="0"/>
              </a:rPr>
              <a:t>HARDWARE &amp; SOFTWARE REQUIREMENTS</a:t>
            </a:r>
            <a:r>
              <a:rPr lang="en-US" altLang="en-US" sz="2400" b="1" dirty="0">
                <a:latin typeface="Times New Roman" panose="02020603050405020304" pitchFamily="18" charset="0"/>
                <a:cs typeface="Times New Roman" panose="02020603050405020304" pitchFamily="18" charset="0"/>
              </a:rPr>
              <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a:spLocks noGrp="1"/>
          </p:cNvSpPr>
          <p:nvPr>
            <p:ph idx="1"/>
          </p:nvPr>
        </p:nvSpPr>
        <p:spPr>
          <a:xfrm>
            <a:off x="1038289" y="1438819"/>
            <a:ext cx="4656406" cy="1922568"/>
          </a:xfrm>
        </p:spPr>
        <p:txBody>
          <a:bodyPr>
            <a:normAutofit/>
          </a:bodyPr>
          <a:lstStyle/>
          <a:p>
            <a:pPr marL="0" indent="0" algn="just">
              <a:lnSpc>
                <a:spcPct val="150000"/>
              </a:lnSpc>
              <a:spcBef>
                <a:spcPts val="0"/>
              </a:spcBef>
              <a:buNone/>
            </a:pPr>
            <a:r>
              <a:rPr lang="en-US" sz="20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H/W Configuration:</a:t>
            </a:r>
          </a:p>
          <a:p>
            <a:pPr marL="0" indent="0" algn="just">
              <a:lnSpc>
                <a:spcPct val="150000"/>
              </a:lnSpc>
              <a:spcBef>
                <a:spcPts val="0"/>
              </a:spcBef>
              <a:buNone/>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Processor    - I3/Intel Processor</a:t>
            </a:r>
          </a:p>
          <a:p>
            <a:pPr marL="0" indent="0" algn="just">
              <a:lnSpc>
                <a:spcPct val="150000"/>
              </a:lnSpc>
              <a:spcBef>
                <a:spcPts val="0"/>
              </a:spcBef>
              <a:buNone/>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Hard Disk   -160GB</a:t>
            </a:r>
          </a:p>
          <a:p>
            <a:pPr marL="0" indent="0" algn="just">
              <a:lnSpc>
                <a:spcPct val="150000"/>
              </a:lnSpc>
              <a:spcBef>
                <a:spcPts val="0"/>
              </a:spcBef>
              <a:buNone/>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RAM	   -  8Gb</a:t>
            </a:r>
          </a:p>
        </p:txBody>
      </p:sp>
      <p:sp>
        <p:nvSpPr>
          <p:cNvPr id="6" name="TextBox 5">
            <a:extLst>
              <a:ext uri="{FF2B5EF4-FFF2-40B4-BE49-F238E27FC236}">
                <a16:creationId xmlns:a16="http://schemas.microsoft.com/office/drawing/2014/main" xmlns="" id="{7C70DF6A-B090-4103-9F76-70F2E53A2FCD}"/>
              </a:ext>
            </a:extLst>
          </p:cNvPr>
          <p:cNvSpPr txBox="1"/>
          <p:nvPr/>
        </p:nvSpPr>
        <p:spPr>
          <a:xfrm>
            <a:off x="1038289" y="3554834"/>
            <a:ext cx="10385271" cy="2400657"/>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S/W Configuration:</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Operating System       :   Windows 7/8/10	.	</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IDE	           </a:t>
            </a:r>
            <a:r>
              <a:rPr lang="en-US" sz="20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Pycharm.</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Libraries Used            :    Numpy, Pandas, OS, Pillow, MySQL. </a:t>
            </a:r>
          </a:p>
          <a:p>
            <a:pPr algn="just">
              <a:lnSpc>
                <a:spcPct val="150000"/>
              </a:lnSpc>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Technology                 :    Python 3.6+.</a:t>
            </a: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0804524" y="0"/>
            <a:ext cx="1400175" cy="465455"/>
          </a:xfrm>
          <a:prstGeom prst="rect">
            <a:avLst/>
          </a:prstGeom>
        </p:spPr>
      </p:pic>
    </p:spTree>
    <p:extLst>
      <p:ext uri="{BB962C8B-B14F-4D97-AF65-F5344CB8AC3E}">
        <p14:creationId xmlns:p14="http://schemas.microsoft.com/office/powerpoint/2010/main" val="1094592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142" y="146184"/>
            <a:ext cx="10515600" cy="665185"/>
          </a:xfrm>
        </p:spPr>
        <p:txBody>
          <a:bodyPr>
            <a:normAutofit/>
          </a:bodyPr>
          <a:lstStyle/>
          <a:p>
            <a:pPr algn="ctr"/>
            <a:r>
              <a:rPr lang="en-IN" sz="2800" b="1" dirty="0" smtClean="0">
                <a:latin typeface="Times New Roman" panose="02020603050405020304" pitchFamily="18" charset="0"/>
                <a:cs typeface="Times New Roman" panose="02020603050405020304" pitchFamily="18" charset="0"/>
              </a:rPr>
              <a:t>MODULES</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914400"/>
            <a:ext cx="10997485" cy="5396248"/>
          </a:xfrm>
        </p:spPr>
        <p:txBody>
          <a:bodyPr>
            <a:noAutofit/>
          </a:bodyPr>
          <a:lstStyle/>
          <a:p>
            <a:pPr marL="0" indent="0">
              <a:lnSpc>
                <a:spcPct val="160000"/>
              </a:lnSpc>
              <a:buNone/>
            </a:pPr>
            <a:r>
              <a:rPr lang="en-IN" sz="2000" b="1" dirty="0" smtClean="0">
                <a:latin typeface="Times New Roman" panose="02020603050405020304" pitchFamily="18" charset="0"/>
                <a:cs typeface="Times New Roman" panose="02020603050405020304" pitchFamily="18" charset="0"/>
              </a:rPr>
              <a:t>1</a:t>
            </a:r>
            <a:r>
              <a:rPr lang="en-IN" sz="2000" b="1" dirty="0">
                <a:latin typeface="Times New Roman" panose="02020603050405020304" pitchFamily="18" charset="0"/>
                <a:cs typeface="Times New Roman" panose="02020603050405020304" pitchFamily="18" charset="0"/>
              </a:rPr>
              <a:t>. System:</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b="1" dirty="0">
                <a:latin typeface="Times New Roman" panose="02020603050405020304" pitchFamily="18" charset="0"/>
                <a:cs typeface="Times New Roman" panose="02020603050405020304" pitchFamily="18" charset="0"/>
              </a:rPr>
              <a:t>1.1 Store Dataset:</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dirty="0" smtClean="0">
                <a:latin typeface="Times New Roman" panose="02020603050405020304" pitchFamily="18" charset="0"/>
                <a:cs typeface="Times New Roman" panose="02020603050405020304" pitchFamily="18" charset="0"/>
              </a:rPr>
              <a:t>	The </a:t>
            </a:r>
            <a:r>
              <a:rPr lang="en-IN" sz="2000" dirty="0">
                <a:latin typeface="Times New Roman" panose="02020603050405020304" pitchFamily="18" charset="0"/>
                <a:cs typeface="Times New Roman" panose="02020603050405020304" pitchFamily="18" charset="0"/>
              </a:rPr>
              <a:t>System stores the dataset given by the user.</a:t>
            </a:r>
          </a:p>
          <a:p>
            <a:pPr marL="0" indent="0">
              <a:lnSpc>
                <a:spcPct val="160000"/>
              </a:lnSpc>
              <a:buNone/>
            </a:pPr>
            <a:r>
              <a:rPr lang="en-IN" sz="2000" b="1" dirty="0">
                <a:latin typeface="Times New Roman" panose="02020603050405020304" pitchFamily="18" charset="0"/>
                <a:cs typeface="Times New Roman" panose="02020603050405020304" pitchFamily="18" charset="0"/>
              </a:rPr>
              <a:t>1.2 Model Training:</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dirty="0" smtClean="0">
                <a:latin typeface="Times New Roman" panose="02020603050405020304" pitchFamily="18" charset="0"/>
                <a:cs typeface="Times New Roman" panose="02020603050405020304" pitchFamily="18" charset="0"/>
              </a:rPr>
              <a:t>	The </a:t>
            </a:r>
            <a:r>
              <a:rPr lang="en-IN" sz="2000" dirty="0">
                <a:latin typeface="Times New Roman" panose="02020603050405020304" pitchFamily="18" charset="0"/>
                <a:cs typeface="Times New Roman" panose="02020603050405020304" pitchFamily="18" charset="0"/>
              </a:rPr>
              <a:t>system takes the data from the user and fed that data to the selected model.</a:t>
            </a:r>
          </a:p>
          <a:p>
            <a:pPr marL="0" indent="0">
              <a:lnSpc>
                <a:spcPct val="160000"/>
              </a:lnSpc>
              <a:buNone/>
            </a:pPr>
            <a:r>
              <a:rPr lang="en-IN" sz="2000" b="1" dirty="0">
                <a:latin typeface="Times New Roman" panose="02020603050405020304" pitchFamily="18" charset="0"/>
                <a:cs typeface="Times New Roman" panose="02020603050405020304" pitchFamily="18" charset="0"/>
              </a:rPr>
              <a:t>1.3 Model Predictions:</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dirty="0" smtClean="0">
                <a:latin typeface="Times New Roman" panose="02020603050405020304" pitchFamily="18" charset="0"/>
                <a:cs typeface="Times New Roman" panose="02020603050405020304" pitchFamily="18" charset="0"/>
              </a:rPr>
              <a:t>	The </a:t>
            </a:r>
            <a:r>
              <a:rPr lang="en-IN" sz="2000" dirty="0">
                <a:latin typeface="Times New Roman" panose="02020603050405020304" pitchFamily="18" charset="0"/>
                <a:cs typeface="Times New Roman" panose="02020603050405020304" pitchFamily="18" charset="0"/>
              </a:rPr>
              <a:t>system takes the data given by the user and predict the output based on the given data.</a:t>
            </a:r>
          </a:p>
          <a:p>
            <a:pPr marL="0" indent="0">
              <a:lnSpc>
                <a:spcPct val="160000"/>
              </a:lnSpc>
              <a:buNone/>
            </a:pPr>
            <a:r>
              <a:rPr lang="en-IN" sz="2000" b="1" dirty="0">
                <a:latin typeface="Times New Roman" panose="02020603050405020304" pitchFamily="18" charset="0"/>
                <a:cs typeface="Times New Roman" panose="02020603050405020304" pitchFamily="18" charset="0"/>
              </a:rPr>
              <a:t>1.4 Data Splitting:</a:t>
            </a:r>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Here the system can split the data into two parts for training and testing.</a:t>
            </a:r>
          </a:p>
          <a:p>
            <a:pPr marL="0" indent="0">
              <a:lnSpc>
                <a:spcPct val="160000"/>
              </a:lnSpc>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0862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757880" y="628611"/>
            <a:ext cx="10256109" cy="51244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User:</a:t>
            </a:r>
          </a:p>
          <a:p>
            <a:pPr lvl="0" algn="just">
              <a:lnSpc>
                <a:spcPct val="150000"/>
              </a:lnSpc>
            </a:pPr>
            <a:r>
              <a:rPr lang="en-US" sz="2000" b="1" dirty="0" smtClean="0">
                <a:latin typeface="Times New Roman" panose="02020603050405020304" pitchFamily="18" charset="0"/>
                <a:cs typeface="Times New Roman" panose="02020603050405020304" pitchFamily="18" charset="0"/>
              </a:rPr>
              <a:t>2.1</a:t>
            </a:r>
            <a:r>
              <a:rPr lang="en-US" sz="2000" b="1" dirty="0">
                <a:latin typeface="Times New Roman" panose="02020603050405020304" pitchFamily="18" charset="0"/>
                <a:cs typeface="Times New Roman" panose="02020603050405020304" pitchFamily="18" charset="0"/>
              </a:rPr>
              <a:t>	Register:</a:t>
            </a:r>
          </a:p>
          <a:p>
            <a:pPr lvl="0" algn="just">
              <a:lnSpc>
                <a:spcPct val="150000"/>
              </a:lnSpc>
            </a:pPr>
            <a:r>
              <a:rPr lang="en-US" sz="2000" dirty="0">
                <a:latin typeface="Times New Roman" panose="02020603050405020304" pitchFamily="18" charset="0"/>
                <a:cs typeface="Times New Roman" panose="02020603050405020304" pitchFamily="18" charset="0"/>
              </a:rPr>
              <a:t>Users can register for the Performance Analysis of Intrusion Detection Systems Using a Feature Selection </a:t>
            </a:r>
            <a:r>
              <a:rPr lang="en-US" sz="2000" dirty="0" smtClean="0">
                <a:latin typeface="Times New Roman" panose="02020603050405020304" pitchFamily="18" charset="0"/>
                <a:cs typeface="Times New Roman" panose="02020603050405020304" pitchFamily="18" charset="0"/>
              </a:rPr>
              <a:t>Method application here.</a:t>
            </a:r>
          </a:p>
          <a:p>
            <a:pPr lvl="0" algn="just">
              <a:lnSpc>
                <a:spcPct val="150000"/>
              </a:lnSpc>
            </a:pPr>
            <a:r>
              <a:rPr lang="en-US" sz="2000" b="1" dirty="0" smtClean="0">
                <a:latin typeface="Times New Roman" panose="02020603050405020304" pitchFamily="18" charset="0"/>
                <a:cs typeface="Times New Roman" panose="02020603050405020304" pitchFamily="18" charset="0"/>
              </a:rPr>
              <a:t>2.2</a:t>
            </a:r>
            <a:r>
              <a:rPr lang="en-US" sz="2000" b="1" dirty="0">
                <a:latin typeface="Times New Roman" panose="02020603050405020304" pitchFamily="18" charset="0"/>
                <a:cs typeface="Times New Roman" panose="02020603050405020304" pitchFamily="18" charset="0"/>
              </a:rPr>
              <a:t>	Login:</a:t>
            </a:r>
          </a:p>
          <a:p>
            <a:pPr lvl="0" algn="just">
              <a:lnSpc>
                <a:spcPct val="150000"/>
              </a:lnSpc>
            </a:pPr>
            <a:r>
              <a:rPr lang="en-US" sz="2000" dirty="0">
                <a:latin typeface="Times New Roman" panose="02020603050405020304" pitchFamily="18" charset="0"/>
                <a:cs typeface="Times New Roman" panose="02020603050405020304" pitchFamily="18" charset="0"/>
              </a:rPr>
              <a:t>After registering, the user can access his portal.</a:t>
            </a:r>
          </a:p>
          <a:p>
            <a:pPr marL="0" marR="0" lvl="0" indent="457200" algn="just"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2.3 Load Dataset: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user can upload the dataset he/she want to work on.</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2.4 View Dataset: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User can view the dataset.</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410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5588" y="1058986"/>
            <a:ext cx="8180173" cy="1754326"/>
          </a:xfrm>
          <a:prstGeom prst="rect">
            <a:avLst/>
          </a:prstGeom>
        </p:spPr>
        <p:txBody>
          <a:bodyPr wrap="square">
            <a:spAutoFit/>
          </a:bodyPr>
          <a:lstStyle/>
          <a:p>
            <a:pPr lvl="0" indent="457200" algn="just" eaLnBrk="0" fontAlgn="base" hangingPunct="0">
              <a:lnSpc>
                <a:spcPct val="150000"/>
              </a:lnSpc>
              <a:spcBef>
                <a:spcPct val="0"/>
              </a:spcBef>
              <a:spcAft>
                <a:spcPct val="0"/>
              </a:spcAft>
            </a:pPr>
            <a:r>
              <a:rPr lang="en-US" b="1" dirty="0">
                <a:latin typeface="Times New Roman" panose="02020603050405020304" pitchFamily="18" charset="0"/>
                <a:ea typeface="Calibri" panose="020F0502020204030204" pitchFamily="34" charset="0"/>
                <a:cs typeface="Times New Roman" panose="02020603050405020304" pitchFamily="18" charset="0"/>
              </a:rPr>
              <a:t>2.5 Select model:</a:t>
            </a:r>
            <a:endParaRPr lang="en-US" dirty="0">
              <a:latin typeface="Times New Roman" panose="02020603050405020304" pitchFamily="18" charset="0"/>
              <a:cs typeface="Times New Roman" panose="02020603050405020304" pitchFamily="18" charset="0"/>
            </a:endParaRPr>
          </a:p>
          <a:p>
            <a:pPr lvl="0" indent="457200" algn="just" eaLnBrk="0" fontAlgn="base" hangingPunct="0">
              <a:lnSpc>
                <a:spcPct val="150000"/>
              </a:lnSpc>
              <a:spcBef>
                <a:spcPct val="0"/>
              </a:spcBef>
              <a:spcAft>
                <a:spcPct val="0"/>
              </a:spcAft>
            </a:pPr>
            <a:r>
              <a:rPr lang="en-US" dirty="0">
                <a:latin typeface="Times New Roman" panose="02020603050405020304" pitchFamily="18" charset="0"/>
                <a:ea typeface="Calibri" panose="020F0502020204030204" pitchFamily="34" charset="0"/>
                <a:cs typeface="Times New Roman" panose="02020603050405020304" pitchFamily="18" charset="0"/>
              </a:rPr>
              <a:t>	User can apply the model to the dataset for accuracy.</a:t>
            </a:r>
            <a:endParaRPr lang="en-US" dirty="0">
              <a:latin typeface="Times New Roman" panose="02020603050405020304" pitchFamily="18" charset="0"/>
              <a:cs typeface="Times New Roman" panose="02020603050405020304" pitchFamily="18" charset="0"/>
            </a:endParaRPr>
          </a:p>
          <a:p>
            <a:pPr lvl="0" indent="457200" algn="just" eaLnBrk="0" fontAlgn="base" hangingPunct="0">
              <a:lnSpc>
                <a:spcPct val="150000"/>
              </a:lnSpc>
              <a:spcBef>
                <a:spcPct val="0"/>
              </a:spcBef>
              <a:spcAft>
                <a:spcPct val="0"/>
              </a:spcAft>
            </a:pPr>
            <a:r>
              <a:rPr lang="en-US" b="1" dirty="0">
                <a:latin typeface="Times New Roman" panose="02020603050405020304" pitchFamily="18" charset="0"/>
                <a:ea typeface="Calibri" panose="020F0502020204030204" pitchFamily="34" charset="0"/>
                <a:cs typeface="Times New Roman" panose="02020603050405020304" pitchFamily="18" charset="0"/>
              </a:rPr>
              <a:t>2.6 View results:</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lvl="0" indent="457200" algn="just" eaLnBrk="0" fontAlgn="base" hangingPunct="0">
              <a:lnSpc>
                <a:spcPct val="150000"/>
              </a:lnSpc>
              <a:spcBef>
                <a:spcPct val="0"/>
              </a:spcBef>
              <a:spcAft>
                <a:spcPct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	User can view the predicted results weather the system is attacked or not</a:t>
            </a:r>
            <a:r>
              <a:rPr lang="en-US"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2913737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130</TotalTime>
  <Words>1264</Words>
  <Application>Microsoft Office PowerPoint</Application>
  <PresentationFormat>Widescreen</PresentationFormat>
  <Paragraphs>109</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Century Gothic</vt:lpstr>
      <vt:lpstr>Droid Sans Fallback</vt:lpstr>
      <vt:lpstr>Symbol</vt:lpstr>
      <vt:lpstr>Times New Roman</vt:lpstr>
      <vt:lpstr>Wingdings</vt:lpstr>
      <vt:lpstr>Wingdings 3</vt:lpstr>
      <vt:lpstr>Wisp</vt:lpstr>
      <vt:lpstr>PowerPoint Presentation</vt:lpstr>
      <vt:lpstr>INDEX </vt:lpstr>
      <vt:lpstr>ABSTRACT</vt:lpstr>
      <vt:lpstr>PowerPoint Presentation</vt:lpstr>
      <vt:lpstr>INTRODUCTION   </vt:lpstr>
      <vt:lpstr>PowerPoint Presentation</vt:lpstr>
      <vt:lpstr>LITERATURE REVIEW  </vt:lpstr>
      <vt:lpstr>EXISTING METHOD</vt:lpstr>
      <vt:lpstr>PROPOSED METHOD </vt:lpstr>
      <vt:lpstr>BLOCK DIAGRAM</vt:lpstr>
      <vt:lpstr>ARCHITECTURE</vt:lpstr>
      <vt:lpstr>IMPLEMENTATION</vt:lpstr>
      <vt:lpstr>HARDWARE &amp; SOFTWARE REQUIREMENTS </vt:lpstr>
      <vt:lpstr>MODULES</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K.ARUNA KUMARI</dc:creator>
  <cp:lastModifiedBy>Chandra Mouli B V S R</cp:lastModifiedBy>
  <cp:revision>39</cp:revision>
  <dcterms:created xsi:type="dcterms:W3CDTF">2022-08-17T10:37:24Z</dcterms:created>
  <dcterms:modified xsi:type="dcterms:W3CDTF">2022-08-19T04:58:50Z</dcterms:modified>
</cp:coreProperties>
</file>